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Nous sommes le groupe n°7 : Arnaud Cordier, Corentin Seu et Alem Nadji, en BUT Science des Données. Aujourd'hui nous allons vous présenter notre dashboard de pilotage industriel développé pour T'Elefan sur la plateforme Festo MES 4.0. Notre présentation durera 20 minutes et se déroulera en 4 parties.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présentation se structure en 4 parties. On commencera par vous décrire comment on a abordé le projet, puis on fera une démonstration en direct du dashboard, ensuite on mettra en avant deux résultats qui nous ont particulièrement frappés, et on terminera par notre retour d'expérience.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projet s'est déroulé en 5 phases. La première était celle de la note de synthèse de janvier : analyse du cahier des charges et exploration de la base MES 4.0 (65 tables, 400+ colonnes). Ensuite on a développé le backend Flask connecté à MariaDB avec les 12 KPIs. On a ensuite intégré les fichiers CSV des capteurs physiques Robotino. Le sprint final a apporté les fonctionnalités de conformité CdC : filtres temporels sur toutes les pages, carte géographique Leaflet, hachage des mots de passe avec werkzeug, et correction du dump SQL (suppression de tblpartsreport, incompatible HeidiSQL). Et enfin on a produit toute la documentation de livraison.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notre stack technique finale — qui a évolué depuis la note de synthèse de janvier. La note prévoyait Streamlit ; on a migré vers Flask pour avoir le contrôle total sur le design, les sessions et la sécurité. On a trois couches : les données (MariaDB dans Docker + fichiers CSV capteurs), le backend Python avec Flask qui calcule tous les KPIs via SQLAlchemy et pandas, et le frontend HTML généré côté serveur avec Jinja2, ApexCharts et Leaflet.js pour la carte. Sécurité : les mots de passe sont hachés avec werkzeug.security (bcrypt), l'utilisateur MariaDB qlio_user n'a que les droits SELECT.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passe maintenant à la démonstration en direct. On va ouvrir le dashboard sur localhost:5000 et vous montrer les 6 pages dans l'ordre. Pour chaque page, on présentera rapidement ce qu'on voit et d'où viennent les données. Parcours recommandé : commencer par l'accueil pour avoir la vue synthèse et montrer les filtres temporels, puis production pour montrer les graphiques d'OF avec filtre de dates, puis qualité pour le tableau TRS par ressource, machines pour le MTBF/MTTR, maintenance avec les courbes capteurs CSV en bas de page, et terminer par la page Géographie avec la carte Leaflet centrée sur l'IUT Lumière Lyon 2 à Bron.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cartographie complète de nos 12 KPIs répartis en 4 catégories. Production : on suit le flux des ordres du lancement à la livraison. Qualité : le TRS est l'indicateur central, complété par le FPY et le Pareto d'erreurs. Machines : MTBF et MTTR pour mesurer la fiabilité des équipements. Maintenance : buffers et énergie, enrichis par les données brutes des capteurs physiques. Chaque KPI est calculé dynamiquement depuis la base de données via des requêtes SQL optimisées.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résultat marquant est le TRS global à 5,4 %. A priori ce chiffre paraît alarmant — l'industrie vise en général 85 %. Mais il faut le contextualiser : les données couvrent 3 ans de fonctionnement et incluent toutes les périodes d'arrêt programmé, de week-end, de maintenance. Ce qui est réellement intéressant c'est la décomposition : la qualité est excellente à 97,8 % : quand les machines tournent, elles produisent bien. La disponibilité est faible car on mesure sur 3 ans avec des arrêts longs. La performance à 35,6 % suggère que le rythme de production est en-dessous du nominal théorique. La recommandation prioritaire : travailler sur la disponibilité via la maintenance préventive.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résultat marquant : on va vous parler de deux choses complémentaires. D'abord le First Pass Yield à 85,9 % : 189 ordres sur 220 n'ont eu aucune erreur au premier passage. C'est un bon résultat qui montre un processus relativement maîtrisé. Les 63 erreurs détectées sont concentrées sur quelques étapes spécifiques — le Pareto qu'on vous montrera dans la démo. Ensuite, l'apport des données capteurs CSV : ces deux fichiers nous donnent une dimension que le MES ne capture pas seul. data_all.csv avec 3 569 points de mesure synchronisée, et dataEnergy.csv avec 177 000 points de puissance sur longue durée. L'idée clé c'est la corrélation : si on détecte un arrêt dans le MES et qu'on observe simultanément un pic de puissance dans le CSV, c'est un signal fort d'un problème électrique. C'est une piste d'analyse que ce projet ouvre pour la suite.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ce projet nous a apporté beaucoup. Techniquement : on a appris à connecter Flask à une vraie base de données industrielle, à calculer des KPIs métier complexes (TRS, MTBF) depuis du SQL pur, et à intégrer des données hétérogènes. Méthodologiquement : le sprint 3 nous a montré que les tests sur données réelles sont indispensables — on avait deux KPIs faux qu'on n'aurait jamais vus sans tester sur la vraie machine. Ce qu'on aurait fait différemment : un, mieux documenter les colonnes SQL dès le départ pour éviter les surprises (comme ElectricEnergyReal vide). Deux, fixer les versions de tous les paquets dès le début — on a perdu du temps avec l'incompatibilité pandas/SQLAlchemy. Trois, travailler sur une période glissante récente plutôt que sur tout l'historique pour avoir des KPIs plus représentatifs de l'état actuel de la ligne.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Voilà, c'est la fin de notre présentation. Pour résumer : on a livré un dashboard industriel complet avec 12 KPIs sur 6 pages, connecté à la vraie base Festo MES 4.0, enrichi de données capteurs physiques, sécurisé, et entièrement documenté. Nous sommes disponibles pour vos questions. </a:t>
            </a:r>
          </a:p>
          <a:p/>
          <a:p>
            <a:r>
              <a:t>Questions possibles à anticiper :</a:t>
            </a:r>
          </a:p>
          <a:p>
            <a:r>
              <a:t>- Pourquoi Flask plutôt que Streamlit (note de synthèse) ? → Streamlit n'offre pas assez de contrôle sur le design et les sessions.</a:t>
            </a:r>
          </a:p>
          <a:p>
            <a:r>
              <a:t>- Que signifie TRS à 5,4 % ? → Données sur 3 ans avec arrêts, pas représentatif d'une semaine de prod.</a:t>
            </a:r>
          </a:p>
          <a:p>
            <a:r>
              <a:t>- Comment sécuriser les mots de passe ? → Hachage werkzeug.security, utilisateur MariaDB qlio_user SELECT-only, filtres date côté SQL.</a:t>
            </a:r>
          </a:p>
          <a:p>
            <a:r>
              <a:t>- Que faire avec les corrélations CSV/SQL ? → Analyse de causalité entre pannes MES et pics électriques capteurs.</a:t>
            </a:r>
          </a:p>
          <a:p>
            <a:r>
              <a:t>- Pourquoi l'erreur SQL à l'import ? → tblpartsreport contient des données binaires HeidiSQL incompatibles, table non utilisée par le dashboard.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85A14"/>
          </a:solidFill>
          <a:ln>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852160"/>
            <a:ext cx="12188952" cy="100584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310896"/>
            <a:ext cx="252374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731520" y="365760"/>
            <a:ext cx="2377440" cy="987352"/>
          </a:xfrm>
          <a:prstGeom prst="rect">
            <a:avLst/>
          </a:prstGeom>
        </p:spPr>
      </p:pic>
      <p:sp>
        <p:nvSpPr>
          <p:cNvPr id="7" name="TextBox 6"/>
          <p:cNvSpPr txBox="1"/>
          <p:nvPr/>
        </p:nvSpPr>
        <p:spPr>
          <a:xfrm>
            <a:off x="731520" y="1280160"/>
            <a:ext cx="10058400" cy="640080"/>
          </a:xfrm>
          <a:prstGeom prst="rect">
            <a:avLst/>
          </a:prstGeom>
          <a:noFill/>
        </p:spPr>
        <p:txBody>
          <a:bodyPr wrap="square">
            <a:spAutoFit/>
          </a:bodyPr>
          <a:lstStyle/>
          <a:p>
            <a:pPr algn="l"/>
            <a:r>
              <a:rPr sz="2000" b="0" i="0">
                <a:solidFill>
                  <a:srgbClr val="6B7280"/>
                </a:solidFill>
                <a:latin typeface="Calibri"/>
              </a:rPr>
              <a:t>Dashboard de Pilotage Industriel</a:t>
            </a:r>
          </a:p>
        </p:txBody>
      </p:sp>
      <p:sp>
        <p:nvSpPr>
          <p:cNvPr id="8" name="TextBox 7"/>
          <p:cNvSpPr txBox="1"/>
          <p:nvPr/>
        </p:nvSpPr>
        <p:spPr>
          <a:xfrm>
            <a:off x="731520" y="1828800"/>
            <a:ext cx="10058400" cy="1005840"/>
          </a:xfrm>
          <a:prstGeom prst="rect">
            <a:avLst/>
          </a:prstGeom>
          <a:noFill/>
        </p:spPr>
        <p:txBody>
          <a:bodyPr wrap="square">
            <a:spAutoFit/>
          </a:bodyPr>
          <a:lstStyle/>
          <a:p>
            <a:pPr algn="l"/>
            <a:r>
              <a:rPr sz="4800" b="1" i="0">
                <a:solidFill>
                  <a:srgbClr val="FFFFFF"/>
                </a:solidFill>
                <a:latin typeface="Calibri"/>
              </a:rPr>
              <a:t>MES 4.0 – T'Elefan</a:t>
            </a:r>
          </a:p>
        </p:txBody>
      </p:sp>
      <p:sp>
        <p:nvSpPr>
          <p:cNvPr id="9" name="TextBox 8"/>
          <p:cNvSpPr txBox="1"/>
          <p:nvPr/>
        </p:nvSpPr>
        <p:spPr>
          <a:xfrm>
            <a:off x="731520" y="2880360"/>
            <a:ext cx="10058400" cy="457200"/>
          </a:xfrm>
          <a:prstGeom prst="rect">
            <a:avLst/>
          </a:prstGeom>
          <a:noFill/>
        </p:spPr>
        <p:txBody>
          <a:bodyPr wrap="square">
            <a:spAutoFit/>
          </a:bodyPr>
          <a:lstStyle/>
          <a:p>
            <a:pPr algn="l"/>
            <a:r>
              <a:rPr sz="1600" b="0" i="0">
                <a:solidFill>
                  <a:srgbClr val="E85A14"/>
                </a:solidFill>
                <a:latin typeface="Calibri"/>
              </a:rPr>
              <a:t>Festo MES 4.0 · Flask · MariaDB · ApexCharts</a:t>
            </a:r>
          </a:p>
        </p:txBody>
      </p:sp>
      <p:sp>
        <p:nvSpPr>
          <p:cNvPr id="10" name="Rectangle 9"/>
          <p:cNvSpPr/>
          <p:nvPr/>
        </p:nvSpPr>
        <p:spPr>
          <a:xfrm>
            <a:off x="731520" y="3429000"/>
            <a:ext cx="8229600" cy="38100"/>
          </a:xfrm>
          <a:prstGeom prst="rect">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11880"/>
            <a:ext cx="8229600" cy="411480"/>
          </a:xfrm>
          <a:prstGeom prst="rect">
            <a:avLst/>
          </a:prstGeom>
          <a:noFill/>
        </p:spPr>
        <p:txBody>
          <a:bodyPr wrap="square">
            <a:spAutoFit/>
          </a:bodyPr>
          <a:lstStyle/>
          <a:p>
            <a:pPr algn="l"/>
            <a:r>
              <a:rPr sz="1500" b="1" i="0">
                <a:solidFill>
                  <a:srgbClr val="FFFFFF"/>
                </a:solidFill>
                <a:latin typeface="Calibri"/>
              </a:rPr>
              <a:t>Arnaud Cordier  ·  Corentin Seu  ·  Alem Nadji</a:t>
            </a:r>
          </a:p>
        </p:txBody>
      </p:sp>
      <p:sp>
        <p:nvSpPr>
          <p:cNvPr id="12" name="TextBox 11"/>
          <p:cNvSpPr txBox="1"/>
          <p:nvPr/>
        </p:nvSpPr>
        <p:spPr>
          <a:xfrm>
            <a:off x="731520" y="4069080"/>
            <a:ext cx="8229600" cy="365760"/>
          </a:xfrm>
          <a:prstGeom prst="rect">
            <a:avLst/>
          </a:prstGeom>
          <a:noFill/>
        </p:spPr>
        <p:txBody>
          <a:bodyPr wrap="square">
            <a:spAutoFit/>
          </a:bodyPr>
          <a:lstStyle/>
          <a:p>
            <a:pPr algn="l"/>
            <a:r>
              <a:rPr sz="1200" b="0" i="0">
                <a:solidFill>
                  <a:srgbClr val="6B7280"/>
                </a:solidFill>
                <a:latin typeface="Calibri"/>
              </a:rPr>
              <a:t>Groupe n°7  ·  BUT Science des Données – IUT  ·  02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85A14"/>
          </a:solidFill>
          <a:ln>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7" name="TextBox 6"/>
          <p:cNvSpPr txBox="1"/>
          <p:nvPr/>
        </p:nvSpPr>
        <p:spPr>
          <a:xfrm>
            <a:off x="731520" y="201168"/>
            <a:ext cx="9144000" cy="640080"/>
          </a:xfrm>
          <a:prstGeom prst="rect">
            <a:avLst/>
          </a:prstGeom>
          <a:noFill/>
        </p:spPr>
        <p:txBody>
          <a:bodyPr wrap="square">
            <a:spAutoFit/>
          </a:bodyPr>
          <a:lstStyle/>
          <a:p>
            <a:pPr algn="l"/>
            <a:r>
              <a:rPr sz="2600" b="1" i="0">
                <a:solidFill>
                  <a:srgbClr val="FFFFFF"/>
                </a:solidFill>
                <a:latin typeface="Calibri"/>
              </a:rPr>
              <a:t>Plan de la présentation</a:t>
            </a:r>
          </a:p>
        </p:txBody>
      </p:sp>
      <p:sp>
        <p:nvSpPr>
          <p:cNvPr id="8" name="Rectangle 7"/>
          <p:cNvSpPr/>
          <p:nvPr/>
        </p:nvSpPr>
        <p:spPr>
          <a:xfrm>
            <a:off x="731520" y="1371600"/>
            <a:ext cx="10515600" cy="1005840"/>
          </a:xfrm>
          <a:prstGeom prst="rect">
            <a:avLst/>
          </a:prstGeom>
          <a:solidFill>
            <a:srgbClr val="1A2035"/>
          </a:solidFill>
          <a:ln w="19050">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81328"/>
            <a:ext cx="640080" cy="731520"/>
          </a:xfrm>
          <a:prstGeom prst="rect">
            <a:avLst/>
          </a:prstGeom>
          <a:noFill/>
        </p:spPr>
        <p:txBody>
          <a:bodyPr wrap="square">
            <a:spAutoFit/>
          </a:bodyPr>
          <a:lstStyle/>
          <a:p>
            <a:pPr algn="l"/>
            <a:r>
              <a:rPr sz="3000" b="1" i="0">
                <a:solidFill>
                  <a:srgbClr val="E85A14"/>
                </a:solidFill>
                <a:latin typeface="Calibri"/>
              </a:rPr>
              <a:t>01</a:t>
            </a:r>
          </a:p>
        </p:txBody>
      </p:sp>
      <p:sp>
        <p:nvSpPr>
          <p:cNvPr id="10" name="TextBox 9"/>
          <p:cNvSpPr txBox="1"/>
          <p:nvPr/>
        </p:nvSpPr>
        <p:spPr>
          <a:xfrm>
            <a:off x="1600200" y="1444752"/>
            <a:ext cx="5486400" cy="457200"/>
          </a:xfrm>
          <a:prstGeom prst="rect">
            <a:avLst/>
          </a:prstGeom>
          <a:noFill/>
        </p:spPr>
        <p:txBody>
          <a:bodyPr wrap="square">
            <a:spAutoFit/>
          </a:bodyPr>
          <a:lstStyle/>
          <a:p>
            <a:pPr algn="l"/>
            <a:r>
              <a:rPr sz="1700" b="1" i="0">
                <a:solidFill>
                  <a:srgbClr val="FFFFFF"/>
                </a:solidFill>
                <a:latin typeface="Calibri"/>
              </a:rPr>
              <a:t>Démarche projet</a:t>
            </a:r>
          </a:p>
        </p:txBody>
      </p:sp>
      <p:sp>
        <p:nvSpPr>
          <p:cNvPr id="11" name="TextBox 10"/>
          <p:cNvSpPr txBox="1"/>
          <p:nvPr/>
        </p:nvSpPr>
        <p:spPr>
          <a:xfrm>
            <a:off x="1600200" y="1874520"/>
            <a:ext cx="7772400" cy="365760"/>
          </a:xfrm>
          <a:prstGeom prst="rect">
            <a:avLst/>
          </a:prstGeom>
          <a:noFill/>
        </p:spPr>
        <p:txBody>
          <a:bodyPr wrap="square">
            <a:spAutoFit/>
          </a:bodyPr>
          <a:lstStyle/>
          <a:p>
            <a:pPr algn="l"/>
            <a:r>
              <a:rPr sz="1100" b="0" i="0">
                <a:solidFill>
                  <a:srgbClr val="6B7280"/>
                </a:solidFill>
                <a:latin typeface="Calibri"/>
              </a:rPr>
              <a:t>De la prise en main à la livraison</a:t>
            </a:r>
          </a:p>
        </p:txBody>
      </p:sp>
      <p:sp>
        <p:nvSpPr>
          <p:cNvPr id="12" name="Rectangle 11"/>
          <p:cNvSpPr/>
          <p:nvPr/>
        </p:nvSpPr>
        <p:spPr>
          <a:xfrm>
            <a:off x="731520" y="2606040"/>
            <a:ext cx="10515600" cy="1005840"/>
          </a:xfrm>
          <a:prstGeom prst="rect">
            <a:avLst/>
          </a:prstGeom>
          <a:solidFill>
            <a:srgbClr val="1A20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715768"/>
            <a:ext cx="640080" cy="731520"/>
          </a:xfrm>
          <a:prstGeom prst="rect">
            <a:avLst/>
          </a:prstGeom>
          <a:noFill/>
        </p:spPr>
        <p:txBody>
          <a:bodyPr wrap="square">
            <a:spAutoFit/>
          </a:bodyPr>
          <a:lstStyle/>
          <a:p>
            <a:pPr algn="l"/>
            <a:r>
              <a:rPr sz="3000" b="1" i="0">
                <a:solidFill>
                  <a:srgbClr val="3B82F6"/>
                </a:solidFill>
                <a:latin typeface="Calibri"/>
              </a:rPr>
              <a:t>02</a:t>
            </a:r>
          </a:p>
        </p:txBody>
      </p:sp>
      <p:sp>
        <p:nvSpPr>
          <p:cNvPr id="14" name="TextBox 13"/>
          <p:cNvSpPr txBox="1"/>
          <p:nvPr/>
        </p:nvSpPr>
        <p:spPr>
          <a:xfrm>
            <a:off x="1600200" y="2679192"/>
            <a:ext cx="5486400" cy="457200"/>
          </a:xfrm>
          <a:prstGeom prst="rect">
            <a:avLst/>
          </a:prstGeom>
          <a:noFill/>
        </p:spPr>
        <p:txBody>
          <a:bodyPr wrap="square">
            <a:spAutoFit/>
          </a:bodyPr>
          <a:lstStyle/>
          <a:p>
            <a:pPr algn="l"/>
            <a:r>
              <a:rPr sz="1700" b="1" i="0">
                <a:solidFill>
                  <a:srgbClr val="FFFFFF"/>
                </a:solidFill>
                <a:latin typeface="Calibri"/>
              </a:rPr>
              <a:t>Démonstration live</a:t>
            </a:r>
          </a:p>
        </p:txBody>
      </p:sp>
      <p:sp>
        <p:nvSpPr>
          <p:cNvPr id="15" name="TextBox 14"/>
          <p:cNvSpPr txBox="1"/>
          <p:nvPr/>
        </p:nvSpPr>
        <p:spPr>
          <a:xfrm>
            <a:off x="1600200" y="3108960"/>
            <a:ext cx="7772400" cy="365760"/>
          </a:xfrm>
          <a:prstGeom prst="rect">
            <a:avLst/>
          </a:prstGeom>
          <a:noFill/>
        </p:spPr>
        <p:txBody>
          <a:bodyPr wrap="square">
            <a:spAutoFit/>
          </a:bodyPr>
          <a:lstStyle/>
          <a:p>
            <a:pPr algn="l"/>
            <a:r>
              <a:rPr sz="1100" b="0" i="0">
                <a:solidFill>
                  <a:srgbClr val="6B7280"/>
                </a:solidFill>
                <a:latin typeface="Calibri"/>
              </a:rPr>
              <a:t>Parcours des 5 pages et 12 KPIs</a:t>
            </a:r>
          </a:p>
        </p:txBody>
      </p:sp>
      <p:sp>
        <p:nvSpPr>
          <p:cNvPr id="16" name="Rectangle 15"/>
          <p:cNvSpPr/>
          <p:nvPr/>
        </p:nvSpPr>
        <p:spPr>
          <a:xfrm>
            <a:off x="731520" y="3840480"/>
            <a:ext cx="10515600" cy="1005840"/>
          </a:xfrm>
          <a:prstGeom prst="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950208"/>
            <a:ext cx="640080" cy="731520"/>
          </a:xfrm>
          <a:prstGeom prst="rect">
            <a:avLst/>
          </a:prstGeom>
          <a:noFill/>
        </p:spPr>
        <p:txBody>
          <a:bodyPr wrap="square">
            <a:spAutoFit/>
          </a:bodyPr>
          <a:lstStyle/>
          <a:p>
            <a:pPr algn="l"/>
            <a:r>
              <a:rPr sz="3000" b="1" i="0">
                <a:solidFill>
                  <a:srgbClr val="10B981"/>
                </a:solidFill>
                <a:latin typeface="Calibri"/>
              </a:rPr>
              <a:t>03</a:t>
            </a:r>
          </a:p>
        </p:txBody>
      </p:sp>
      <p:sp>
        <p:nvSpPr>
          <p:cNvPr id="18" name="TextBox 17"/>
          <p:cNvSpPr txBox="1"/>
          <p:nvPr/>
        </p:nvSpPr>
        <p:spPr>
          <a:xfrm>
            <a:off x="1600200" y="3913632"/>
            <a:ext cx="5486400" cy="457200"/>
          </a:xfrm>
          <a:prstGeom prst="rect">
            <a:avLst/>
          </a:prstGeom>
          <a:noFill/>
        </p:spPr>
        <p:txBody>
          <a:bodyPr wrap="square">
            <a:spAutoFit/>
          </a:bodyPr>
          <a:lstStyle/>
          <a:p>
            <a:pPr algn="l"/>
            <a:r>
              <a:rPr sz="1700" b="1" i="0">
                <a:solidFill>
                  <a:srgbClr val="FFFFFF"/>
                </a:solidFill>
                <a:latin typeface="Calibri"/>
              </a:rPr>
              <a:t>Résultats marquants</a:t>
            </a:r>
          </a:p>
        </p:txBody>
      </p:sp>
      <p:sp>
        <p:nvSpPr>
          <p:cNvPr id="19" name="TextBox 18"/>
          <p:cNvSpPr txBox="1"/>
          <p:nvPr/>
        </p:nvSpPr>
        <p:spPr>
          <a:xfrm>
            <a:off x="1600200" y="4343400"/>
            <a:ext cx="7772400" cy="365760"/>
          </a:xfrm>
          <a:prstGeom prst="rect">
            <a:avLst/>
          </a:prstGeom>
          <a:noFill/>
        </p:spPr>
        <p:txBody>
          <a:bodyPr wrap="square">
            <a:spAutoFit/>
          </a:bodyPr>
          <a:lstStyle/>
          <a:p>
            <a:pPr algn="l"/>
            <a:r>
              <a:rPr sz="1100" b="0" i="0">
                <a:solidFill>
                  <a:srgbClr val="6B7280"/>
                </a:solidFill>
                <a:latin typeface="Calibri"/>
              </a:rPr>
              <a:t>TRS, First Pass Yield et analyse capteurs</a:t>
            </a:r>
          </a:p>
        </p:txBody>
      </p:sp>
      <p:sp>
        <p:nvSpPr>
          <p:cNvPr id="20" name="Rectangle 19"/>
          <p:cNvSpPr/>
          <p:nvPr/>
        </p:nvSpPr>
        <p:spPr>
          <a:xfrm>
            <a:off x="731520" y="5074920"/>
            <a:ext cx="10515600" cy="1005840"/>
          </a:xfrm>
          <a:prstGeom prst="rect">
            <a:avLst/>
          </a:prstGeom>
          <a:solidFill>
            <a:srgbClr val="1A20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184648"/>
            <a:ext cx="640080" cy="731520"/>
          </a:xfrm>
          <a:prstGeom prst="rect">
            <a:avLst/>
          </a:prstGeom>
          <a:noFill/>
        </p:spPr>
        <p:txBody>
          <a:bodyPr wrap="square">
            <a:spAutoFit/>
          </a:bodyPr>
          <a:lstStyle/>
          <a:p>
            <a:pPr algn="l"/>
            <a:r>
              <a:rPr sz="3000" b="1" i="0">
                <a:solidFill>
                  <a:srgbClr val="F59E0B"/>
                </a:solidFill>
                <a:latin typeface="Calibri"/>
              </a:rPr>
              <a:t>04</a:t>
            </a:r>
          </a:p>
        </p:txBody>
      </p:sp>
      <p:sp>
        <p:nvSpPr>
          <p:cNvPr id="22" name="TextBox 21"/>
          <p:cNvSpPr txBox="1"/>
          <p:nvPr/>
        </p:nvSpPr>
        <p:spPr>
          <a:xfrm>
            <a:off x="1600200" y="5148072"/>
            <a:ext cx="5486400" cy="457200"/>
          </a:xfrm>
          <a:prstGeom prst="rect">
            <a:avLst/>
          </a:prstGeom>
          <a:noFill/>
        </p:spPr>
        <p:txBody>
          <a:bodyPr wrap="square">
            <a:spAutoFit/>
          </a:bodyPr>
          <a:lstStyle/>
          <a:p>
            <a:pPr algn="l"/>
            <a:r>
              <a:rPr sz="1700" b="1" i="0">
                <a:solidFill>
                  <a:srgbClr val="FFFFFF"/>
                </a:solidFill>
                <a:latin typeface="Calibri"/>
              </a:rPr>
              <a:t>Ce que nous avons appris</a:t>
            </a:r>
          </a:p>
        </p:txBody>
      </p:sp>
      <p:sp>
        <p:nvSpPr>
          <p:cNvPr id="23" name="TextBox 22"/>
          <p:cNvSpPr txBox="1"/>
          <p:nvPr/>
        </p:nvSpPr>
        <p:spPr>
          <a:xfrm>
            <a:off x="1600200" y="5577840"/>
            <a:ext cx="7772400" cy="365760"/>
          </a:xfrm>
          <a:prstGeom prst="rect">
            <a:avLst/>
          </a:prstGeom>
          <a:noFill/>
        </p:spPr>
        <p:txBody>
          <a:bodyPr wrap="square">
            <a:spAutoFit/>
          </a:bodyPr>
          <a:lstStyle/>
          <a:p>
            <a:pPr algn="l"/>
            <a:r>
              <a:rPr sz="1100" b="0" i="0">
                <a:solidFill>
                  <a:srgbClr val="6B7280"/>
                </a:solidFill>
                <a:latin typeface="Calibri"/>
              </a:rPr>
              <a:t>Retour d'expérience et pistes d'amélioration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85A14"/>
          </a:solidFill>
          <a:ln>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7" name="TextBox 6"/>
          <p:cNvSpPr txBox="1"/>
          <p:nvPr/>
        </p:nvSpPr>
        <p:spPr>
          <a:xfrm>
            <a:off x="731520" y="201168"/>
            <a:ext cx="9144000" cy="640080"/>
          </a:xfrm>
          <a:prstGeom prst="rect">
            <a:avLst/>
          </a:prstGeom>
          <a:noFill/>
        </p:spPr>
        <p:txBody>
          <a:bodyPr wrap="square">
            <a:spAutoFit/>
          </a:bodyPr>
          <a:lstStyle/>
          <a:p>
            <a:pPr algn="l"/>
            <a:r>
              <a:rPr sz="2600" b="1" i="0">
                <a:solidFill>
                  <a:srgbClr val="FFFFFF"/>
                </a:solidFill>
                <a:latin typeface="Calibri"/>
              </a:rPr>
              <a:t>01  Démarche projet</a:t>
            </a:r>
          </a:p>
        </p:txBody>
      </p:sp>
      <p:sp>
        <p:nvSpPr>
          <p:cNvPr id="8" name="Oval 7"/>
          <p:cNvSpPr/>
          <p:nvPr/>
        </p:nvSpPr>
        <p:spPr>
          <a:xfrm>
            <a:off x="1234440" y="1188720"/>
            <a:ext cx="548640" cy="548640"/>
          </a:xfrm>
          <a:prstGeom prst="ellipse">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170432"/>
            <a:ext cx="548640" cy="548640"/>
          </a:xfrm>
          <a:prstGeom prst="rect">
            <a:avLst/>
          </a:prstGeom>
          <a:noFill/>
        </p:spPr>
        <p:txBody>
          <a:bodyPr wrap="square">
            <a:spAutoFit/>
          </a:bodyPr>
          <a:lstStyle/>
          <a:p>
            <a:pPr algn="ctr"/>
            <a:r>
              <a:rPr sz="1400" b="1" i="0">
                <a:solidFill>
                  <a:srgbClr val="FFFFFF"/>
                </a:solidFill>
                <a:latin typeface="Calibri"/>
              </a:rPr>
              <a:t>1</a:t>
            </a:r>
          </a:p>
        </p:txBody>
      </p:sp>
      <p:sp>
        <p:nvSpPr>
          <p:cNvPr id="10" name="Rectangle 9"/>
          <p:cNvSpPr/>
          <p:nvPr/>
        </p:nvSpPr>
        <p:spPr>
          <a:xfrm>
            <a:off x="1801368" y="1389888"/>
            <a:ext cx="1097280" cy="25400"/>
          </a:xfrm>
          <a:prstGeom prst="rect">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20240"/>
            <a:ext cx="2103120" cy="411480"/>
          </a:xfrm>
          <a:prstGeom prst="rect">
            <a:avLst/>
          </a:prstGeom>
          <a:noFill/>
        </p:spPr>
        <p:txBody>
          <a:bodyPr wrap="square">
            <a:spAutoFit/>
          </a:bodyPr>
          <a:lstStyle/>
          <a:p>
            <a:pPr algn="ctr"/>
            <a:r>
              <a:rPr sz="1100" b="1" i="0">
                <a:solidFill>
                  <a:srgbClr val="E85A14"/>
                </a:solidFill>
                <a:latin typeface="Calibri"/>
              </a:rPr>
              <a:t>Note de synthèse</a:t>
            </a:r>
          </a:p>
        </p:txBody>
      </p:sp>
      <p:sp>
        <p:nvSpPr>
          <p:cNvPr id="12" name="Rectangle 11"/>
          <p:cNvSpPr/>
          <p:nvPr/>
        </p:nvSpPr>
        <p:spPr>
          <a:xfrm>
            <a:off x="685800" y="2423160"/>
            <a:ext cx="2011680" cy="1737360"/>
          </a:xfrm>
          <a:prstGeom prst="rect">
            <a:avLst/>
          </a:prstGeom>
          <a:solidFill>
            <a:srgbClr val="1A2035"/>
          </a:solidFill>
          <a:ln w="12700">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514600"/>
            <a:ext cx="1828800" cy="1554480"/>
          </a:xfrm>
          <a:prstGeom prst="rect">
            <a:avLst/>
          </a:prstGeom>
          <a:noFill/>
        </p:spPr>
        <p:txBody>
          <a:bodyPr wrap="square">
            <a:spAutoFit/>
          </a:bodyPr>
          <a:lstStyle/>
          <a:p>
            <a:pPr algn="l"/>
            <a:r>
              <a:rPr sz="1000" b="0" i="0">
                <a:solidFill>
                  <a:srgbClr val="FFFFFF"/>
                </a:solidFill>
                <a:latin typeface="Calibri"/>
              </a:rPr>
              <a:t>Analyse CdC
Découverte MES 4.0
Exploration BDD</a:t>
            </a:r>
          </a:p>
        </p:txBody>
      </p:sp>
      <p:sp>
        <p:nvSpPr>
          <p:cNvPr id="14" name="Oval 13"/>
          <p:cNvSpPr/>
          <p:nvPr/>
        </p:nvSpPr>
        <p:spPr>
          <a:xfrm>
            <a:off x="3447288" y="1188720"/>
            <a:ext cx="548640" cy="5486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170432"/>
            <a:ext cx="548640" cy="548640"/>
          </a:xfrm>
          <a:prstGeom prst="rect">
            <a:avLst/>
          </a:prstGeom>
          <a:noFill/>
        </p:spPr>
        <p:txBody>
          <a:bodyPr wrap="square">
            <a:spAutoFit/>
          </a:bodyPr>
          <a:lstStyle/>
          <a:p>
            <a:pPr algn="ctr"/>
            <a:r>
              <a:rPr sz="1400" b="1" i="0">
                <a:solidFill>
                  <a:srgbClr val="FFFFFF"/>
                </a:solidFill>
                <a:latin typeface="Calibri"/>
              </a:rPr>
              <a:t>2</a:t>
            </a:r>
          </a:p>
        </p:txBody>
      </p:sp>
      <p:sp>
        <p:nvSpPr>
          <p:cNvPr id="16" name="Rectangle 15"/>
          <p:cNvSpPr/>
          <p:nvPr/>
        </p:nvSpPr>
        <p:spPr>
          <a:xfrm>
            <a:off x="4014216" y="1389888"/>
            <a:ext cx="1097280"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8648" y="1920240"/>
            <a:ext cx="2103120" cy="411480"/>
          </a:xfrm>
          <a:prstGeom prst="rect">
            <a:avLst/>
          </a:prstGeom>
          <a:noFill/>
        </p:spPr>
        <p:txBody>
          <a:bodyPr wrap="square">
            <a:spAutoFit/>
          </a:bodyPr>
          <a:lstStyle/>
          <a:p>
            <a:pPr algn="ctr"/>
            <a:r>
              <a:rPr sz="1100" b="1" i="0">
                <a:solidFill>
                  <a:srgbClr val="3B82F6"/>
                </a:solidFill>
                <a:latin typeface="Calibri"/>
              </a:rPr>
              <a:t>Développement</a:t>
            </a:r>
          </a:p>
        </p:txBody>
      </p:sp>
      <p:sp>
        <p:nvSpPr>
          <p:cNvPr id="18" name="Rectangle 17"/>
          <p:cNvSpPr/>
          <p:nvPr/>
        </p:nvSpPr>
        <p:spPr>
          <a:xfrm>
            <a:off x="2898648" y="2423160"/>
            <a:ext cx="2011680" cy="1737360"/>
          </a:xfrm>
          <a:prstGeom prst="rect">
            <a:avLst/>
          </a:prstGeom>
          <a:solidFill>
            <a:srgbClr val="1A20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0088" y="2514600"/>
            <a:ext cx="1828800" cy="1554480"/>
          </a:xfrm>
          <a:prstGeom prst="rect">
            <a:avLst/>
          </a:prstGeom>
          <a:noFill/>
        </p:spPr>
        <p:txBody>
          <a:bodyPr wrap="square">
            <a:spAutoFit/>
          </a:bodyPr>
          <a:lstStyle/>
          <a:p>
            <a:pPr algn="l"/>
            <a:r>
              <a:rPr sz="1000" b="0" i="0">
                <a:solidFill>
                  <a:srgbClr val="FFFFFF"/>
                </a:solidFill>
                <a:latin typeface="Calibri"/>
              </a:rPr>
              <a:t>Flask + MariaDB
KPIs calculés
Templates HTML</a:t>
            </a:r>
          </a:p>
        </p:txBody>
      </p:sp>
      <p:sp>
        <p:nvSpPr>
          <p:cNvPr id="20" name="Oval 19"/>
          <p:cNvSpPr/>
          <p:nvPr/>
        </p:nvSpPr>
        <p:spPr>
          <a:xfrm>
            <a:off x="5660136" y="1188720"/>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0136" y="1170432"/>
            <a:ext cx="548640" cy="548640"/>
          </a:xfrm>
          <a:prstGeom prst="rect">
            <a:avLst/>
          </a:prstGeom>
          <a:noFill/>
        </p:spPr>
        <p:txBody>
          <a:bodyPr wrap="square">
            <a:spAutoFit/>
          </a:bodyPr>
          <a:lstStyle/>
          <a:p>
            <a:pPr algn="ctr"/>
            <a:r>
              <a:rPr sz="1400" b="1" i="0">
                <a:solidFill>
                  <a:srgbClr val="FFFFFF"/>
                </a:solidFill>
                <a:latin typeface="Calibri"/>
              </a:rPr>
              <a:t>3</a:t>
            </a:r>
          </a:p>
        </p:txBody>
      </p:sp>
      <p:sp>
        <p:nvSpPr>
          <p:cNvPr id="22" name="Rectangle 21"/>
          <p:cNvSpPr/>
          <p:nvPr/>
        </p:nvSpPr>
        <p:spPr>
          <a:xfrm>
            <a:off x="6227064" y="1389888"/>
            <a:ext cx="1097280" cy="25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11496" y="1920240"/>
            <a:ext cx="2103120" cy="411480"/>
          </a:xfrm>
          <a:prstGeom prst="rect">
            <a:avLst/>
          </a:prstGeom>
          <a:noFill/>
        </p:spPr>
        <p:txBody>
          <a:bodyPr wrap="square">
            <a:spAutoFit/>
          </a:bodyPr>
          <a:lstStyle/>
          <a:p>
            <a:pPr algn="ctr"/>
            <a:r>
              <a:rPr sz="1100" b="1" i="0">
                <a:solidFill>
                  <a:srgbClr val="10B981"/>
                </a:solidFill>
                <a:latin typeface="Calibri"/>
              </a:rPr>
              <a:t>Intégration CSV</a:t>
            </a:r>
          </a:p>
        </p:txBody>
      </p:sp>
      <p:sp>
        <p:nvSpPr>
          <p:cNvPr id="24" name="Rectangle 23"/>
          <p:cNvSpPr/>
          <p:nvPr/>
        </p:nvSpPr>
        <p:spPr>
          <a:xfrm>
            <a:off x="5111496" y="2423160"/>
            <a:ext cx="2011680" cy="1737360"/>
          </a:xfrm>
          <a:prstGeom prst="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02936" y="2514600"/>
            <a:ext cx="1828800" cy="1554480"/>
          </a:xfrm>
          <a:prstGeom prst="rect">
            <a:avLst/>
          </a:prstGeom>
          <a:noFill/>
        </p:spPr>
        <p:txBody>
          <a:bodyPr wrap="square">
            <a:spAutoFit/>
          </a:bodyPr>
          <a:lstStyle/>
          <a:p>
            <a:pPr algn="l"/>
            <a:r>
              <a:rPr sz="1000" b="0" i="0">
                <a:solidFill>
                  <a:srgbClr val="FFFFFF"/>
                </a:solidFill>
                <a:latin typeface="Calibri"/>
              </a:rPr>
              <a:t>Capteurs Robotino
data_all / dataEnergy
Graphiques</a:t>
            </a:r>
          </a:p>
        </p:txBody>
      </p:sp>
      <p:sp>
        <p:nvSpPr>
          <p:cNvPr id="26" name="Oval 25"/>
          <p:cNvSpPr/>
          <p:nvPr/>
        </p:nvSpPr>
        <p:spPr>
          <a:xfrm>
            <a:off x="7872984" y="118872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72984" y="1170432"/>
            <a:ext cx="548640" cy="548640"/>
          </a:xfrm>
          <a:prstGeom prst="rect">
            <a:avLst/>
          </a:prstGeom>
          <a:noFill/>
        </p:spPr>
        <p:txBody>
          <a:bodyPr wrap="square">
            <a:spAutoFit/>
          </a:bodyPr>
          <a:lstStyle/>
          <a:p>
            <a:pPr algn="ctr"/>
            <a:r>
              <a:rPr sz="1400" b="1" i="0">
                <a:solidFill>
                  <a:srgbClr val="FFFFFF"/>
                </a:solidFill>
                <a:latin typeface="Calibri"/>
              </a:rPr>
              <a:t>4</a:t>
            </a:r>
          </a:p>
        </p:txBody>
      </p:sp>
      <p:sp>
        <p:nvSpPr>
          <p:cNvPr id="28" name="Rectangle 27"/>
          <p:cNvSpPr/>
          <p:nvPr/>
        </p:nvSpPr>
        <p:spPr>
          <a:xfrm>
            <a:off x="8439912" y="1389888"/>
            <a:ext cx="1097280" cy="25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24344" y="1920240"/>
            <a:ext cx="2103120" cy="411480"/>
          </a:xfrm>
          <a:prstGeom prst="rect">
            <a:avLst/>
          </a:prstGeom>
          <a:noFill/>
        </p:spPr>
        <p:txBody>
          <a:bodyPr wrap="square">
            <a:spAutoFit/>
          </a:bodyPr>
          <a:lstStyle/>
          <a:p>
            <a:pPr algn="ctr"/>
            <a:r>
              <a:rPr sz="1100" b="1" i="0">
                <a:solidFill>
                  <a:srgbClr val="F59E0B"/>
                </a:solidFill>
                <a:latin typeface="Calibri"/>
              </a:rPr>
              <a:t>Sprint final</a:t>
            </a:r>
          </a:p>
        </p:txBody>
      </p:sp>
      <p:sp>
        <p:nvSpPr>
          <p:cNvPr id="30" name="Rectangle 29"/>
          <p:cNvSpPr/>
          <p:nvPr/>
        </p:nvSpPr>
        <p:spPr>
          <a:xfrm>
            <a:off x="7324344" y="2423160"/>
            <a:ext cx="2011680" cy="1737360"/>
          </a:xfrm>
          <a:prstGeom prst="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15784" y="2514600"/>
            <a:ext cx="1828800" cy="1554480"/>
          </a:xfrm>
          <a:prstGeom prst="rect">
            <a:avLst/>
          </a:prstGeom>
          <a:noFill/>
        </p:spPr>
        <p:txBody>
          <a:bodyPr wrap="square">
            <a:spAutoFit/>
          </a:bodyPr>
          <a:lstStyle/>
          <a:p>
            <a:pPr algn="l"/>
            <a:r>
              <a:rPr sz="1000" b="0" i="0">
                <a:solidFill>
                  <a:srgbClr val="FFFFFF"/>
                </a:solidFill>
                <a:latin typeface="Calibri"/>
              </a:rPr>
              <a:t>Filtres temporels
Carte Leaflet
Hachage MDP
SQL propre</a:t>
            </a:r>
          </a:p>
        </p:txBody>
      </p:sp>
      <p:sp>
        <p:nvSpPr>
          <p:cNvPr id="32" name="Oval 31"/>
          <p:cNvSpPr/>
          <p:nvPr/>
        </p:nvSpPr>
        <p:spPr>
          <a:xfrm>
            <a:off x="10085832" y="1188720"/>
            <a:ext cx="548640" cy="5486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85832" y="1170432"/>
            <a:ext cx="548640" cy="548640"/>
          </a:xfrm>
          <a:prstGeom prst="rect">
            <a:avLst/>
          </a:prstGeom>
          <a:noFill/>
        </p:spPr>
        <p:txBody>
          <a:bodyPr wrap="square">
            <a:spAutoFit/>
          </a:bodyPr>
          <a:lstStyle/>
          <a:p>
            <a:pPr algn="ctr"/>
            <a:r>
              <a:rPr sz="1400" b="1" i="0">
                <a:solidFill>
                  <a:srgbClr val="FFFFFF"/>
                </a:solidFill>
                <a:latin typeface="Calibri"/>
              </a:rPr>
              <a:t>5</a:t>
            </a:r>
          </a:p>
        </p:txBody>
      </p:sp>
      <p:sp>
        <p:nvSpPr>
          <p:cNvPr id="34" name="TextBox 33"/>
          <p:cNvSpPr txBox="1"/>
          <p:nvPr/>
        </p:nvSpPr>
        <p:spPr>
          <a:xfrm>
            <a:off x="9537192" y="1920240"/>
            <a:ext cx="2103120" cy="411480"/>
          </a:xfrm>
          <a:prstGeom prst="rect">
            <a:avLst/>
          </a:prstGeom>
          <a:noFill/>
        </p:spPr>
        <p:txBody>
          <a:bodyPr wrap="square">
            <a:spAutoFit/>
          </a:bodyPr>
          <a:lstStyle/>
          <a:p>
            <a:pPr algn="ctr"/>
            <a:r>
              <a:rPr sz="1100" b="1" i="0">
                <a:solidFill>
                  <a:srgbClr val="EF4444"/>
                </a:solidFill>
                <a:latin typeface="Calibri"/>
              </a:rPr>
              <a:t>Livraison</a:t>
            </a:r>
          </a:p>
        </p:txBody>
      </p:sp>
      <p:sp>
        <p:nvSpPr>
          <p:cNvPr id="35" name="Rectangle 34"/>
          <p:cNvSpPr/>
          <p:nvPr/>
        </p:nvSpPr>
        <p:spPr>
          <a:xfrm>
            <a:off x="9537192" y="2423160"/>
            <a:ext cx="2011680" cy="1737360"/>
          </a:xfrm>
          <a:prstGeom prst="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28632" y="2514600"/>
            <a:ext cx="1828800" cy="1554480"/>
          </a:xfrm>
          <a:prstGeom prst="rect">
            <a:avLst/>
          </a:prstGeom>
          <a:noFill/>
        </p:spPr>
        <p:txBody>
          <a:bodyPr wrap="square">
            <a:spAutoFit/>
          </a:bodyPr>
          <a:lstStyle/>
          <a:p>
            <a:pPr algn="l"/>
            <a:r>
              <a:rPr sz="1000" b="0" i="0">
                <a:solidFill>
                  <a:srgbClr val="FFFFFF"/>
                </a:solidFill>
                <a:latin typeface="Calibri"/>
              </a:rPr>
              <a:t>Docs Word x3
GitHub propre
12 KPIs opérationnels
Démo prête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85A14"/>
          </a:solidFill>
          <a:ln>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7" name="TextBox 6"/>
          <p:cNvSpPr txBox="1"/>
          <p:nvPr/>
        </p:nvSpPr>
        <p:spPr>
          <a:xfrm>
            <a:off x="731520" y="201168"/>
            <a:ext cx="9144000" cy="640080"/>
          </a:xfrm>
          <a:prstGeom prst="rect">
            <a:avLst/>
          </a:prstGeom>
          <a:noFill/>
        </p:spPr>
        <p:txBody>
          <a:bodyPr wrap="square">
            <a:spAutoFit/>
          </a:bodyPr>
          <a:lstStyle/>
          <a:p>
            <a:pPr algn="l"/>
            <a:r>
              <a:rPr sz="2600" b="1" i="0">
                <a:solidFill>
                  <a:srgbClr val="FFFFFF"/>
                </a:solidFill>
                <a:latin typeface="Calibri"/>
              </a:rPr>
              <a:t>01  Architecture technique</a:t>
            </a:r>
          </a:p>
        </p:txBody>
      </p:sp>
      <p:sp>
        <p:nvSpPr>
          <p:cNvPr id="8" name="Rectangle 7"/>
          <p:cNvSpPr/>
          <p:nvPr/>
        </p:nvSpPr>
        <p:spPr>
          <a:xfrm>
            <a:off x="731520" y="1188720"/>
            <a:ext cx="347472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07008"/>
            <a:ext cx="3474720" cy="411480"/>
          </a:xfrm>
          <a:prstGeom prst="rect">
            <a:avLst/>
          </a:prstGeom>
          <a:noFill/>
        </p:spPr>
        <p:txBody>
          <a:bodyPr wrap="square">
            <a:spAutoFit/>
          </a:bodyPr>
          <a:lstStyle/>
          <a:p>
            <a:pPr algn="ctr"/>
            <a:r>
              <a:rPr sz="1300" b="1" i="0">
                <a:solidFill>
                  <a:srgbClr val="FFFFFF"/>
                </a:solidFill>
                <a:latin typeface="Calibri"/>
              </a:rPr>
              <a:t>DONNÉES</a:t>
            </a:r>
          </a:p>
        </p:txBody>
      </p:sp>
      <p:sp>
        <p:nvSpPr>
          <p:cNvPr id="10" name="Rectangle 9"/>
          <p:cNvSpPr/>
          <p:nvPr/>
        </p:nvSpPr>
        <p:spPr>
          <a:xfrm>
            <a:off x="731520" y="1664208"/>
            <a:ext cx="3474720" cy="4206240"/>
          </a:xfrm>
          <a:prstGeom prst="rect">
            <a:avLst/>
          </a:prstGeom>
          <a:solidFill>
            <a:srgbClr val="1A20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3108960" cy="594360"/>
          </a:xfrm>
          <a:prstGeom prst="rect">
            <a:avLst/>
          </a:prstGeom>
          <a:noFill/>
        </p:spPr>
        <p:txBody>
          <a:bodyPr wrap="square">
            <a:spAutoFit/>
          </a:bodyPr>
          <a:lstStyle/>
          <a:p>
            <a:pPr algn="l"/>
            <a:r>
              <a:rPr sz="1200" b="0" i="0">
                <a:solidFill>
                  <a:srgbClr val="3B82F6"/>
                </a:solidFill>
                <a:latin typeface="Calibri"/>
              </a:rPr>
              <a:t>▸  MariaDB (Docker)</a:t>
            </a:r>
          </a:p>
        </p:txBody>
      </p:sp>
      <p:sp>
        <p:nvSpPr>
          <p:cNvPr id="12" name="TextBox 11"/>
          <p:cNvSpPr txBox="1"/>
          <p:nvPr/>
        </p:nvSpPr>
        <p:spPr>
          <a:xfrm>
            <a:off x="914400" y="2514600"/>
            <a:ext cx="3108960" cy="594360"/>
          </a:xfrm>
          <a:prstGeom prst="rect">
            <a:avLst/>
          </a:prstGeom>
          <a:noFill/>
        </p:spPr>
        <p:txBody>
          <a:bodyPr wrap="square">
            <a:spAutoFit/>
          </a:bodyPr>
          <a:lstStyle/>
          <a:p>
            <a:pPr algn="l"/>
            <a:r>
              <a:rPr sz="1200" b="0" i="0">
                <a:solidFill>
                  <a:srgbClr val="3B82F6"/>
                </a:solidFill>
                <a:latin typeface="Calibri"/>
              </a:rPr>
              <a:t>▸  Festo MES 4.0</a:t>
            </a:r>
          </a:p>
        </p:txBody>
      </p:sp>
      <p:sp>
        <p:nvSpPr>
          <p:cNvPr id="13" name="TextBox 12"/>
          <p:cNvSpPr txBox="1"/>
          <p:nvPr/>
        </p:nvSpPr>
        <p:spPr>
          <a:xfrm>
            <a:off x="914400" y="3200400"/>
            <a:ext cx="3108960" cy="594360"/>
          </a:xfrm>
          <a:prstGeom prst="rect">
            <a:avLst/>
          </a:prstGeom>
          <a:noFill/>
        </p:spPr>
        <p:txBody>
          <a:bodyPr wrap="square">
            <a:spAutoFit/>
          </a:bodyPr>
          <a:lstStyle/>
          <a:p>
            <a:pPr algn="l"/>
            <a:r>
              <a:rPr sz="1200" b="0" i="0">
                <a:solidFill>
                  <a:srgbClr val="3B82F6"/>
                </a:solidFill>
                <a:latin typeface="Calibri"/>
              </a:rPr>
              <a:t>▸  13 tables SQL</a:t>
            </a:r>
          </a:p>
        </p:txBody>
      </p:sp>
      <p:sp>
        <p:nvSpPr>
          <p:cNvPr id="14" name="TextBox 13"/>
          <p:cNvSpPr txBox="1"/>
          <p:nvPr/>
        </p:nvSpPr>
        <p:spPr>
          <a:xfrm>
            <a:off x="914400" y="3886200"/>
            <a:ext cx="3108960" cy="594360"/>
          </a:xfrm>
          <a:prstGeom prst="rect">
            <a:avLst/>
          </a:prstGeom>
          <a:noFill/>
        </p:spPr>
        <p:txBody>
          <a:bodyPr wrap="square">
            <a:spAutoFit/>
          </a:bodyPr>
          <a:lstStyle/>
          <a:p>
            <a:pPr algn="l"/>
            <a:r>
              <a:rPr sz="1200" b="0" i="0">
                <a:solidFill>
                  <a:srgbClr val="10B981"/>
                </a:solidFill>
                <a:latin typeface="Calibri"/>
              </a:rPr>
              <a:t>▸  data_all.csv</a:t>
            </a:r>
          </a:p>
        </p:txBody>
      </p:sp>
      <p:sp>
        <p:nvSpPr>
          <p:cNvPr id="15" name="TextBox 14"/>
          <p:cNvSpPr txBox="1"/>
          <p:nvPr/>
        </p:nvSpPr>
        <p:spPr>
          <a:xfrm>
            <a:off x="914400" y="4572000"/>
            <a:ext cx="3108960" cy="594360"/>
          </a:xfrm>
          <a:prstGeom prst="rect">
            <a:avLst/>
          </a:prstGeom>
          <a:noFill/>
        </p:spPr>
        <p:txBody>
          <a:bodyPr wrap="square">
            <a:spAutoFit/>
          </a:bodyPr>
          <a:lstStyle/>
          <a:p>
            <a:pPr algn="l"/>
            <a:r>
              <a:rPr sz="1200" b="0" i="0">
                <a:solidFill>
                  <a:srgbClr val="10B981"/>
                </a:solidFill>
                <a:latin typeface="Calibri"/>
              </a:rPr>
              <a:t>▸  dataEnergy.csv</a:t>
            </a:r>
          </a:p>
        </p:txBody>
      </p:sp>
      <p:sp>
        <p:nvSpPr>
          <p:cNvPr id="16" name="Rectangle 15"/>
          <p:cNvSpPr/>
          <p:nvPr/>
        </p:nvSpPr>
        <p:spPr>
          <a:xfrm>
            <a:off x="4480559" y="1188720"/>
            <a:ext cx="3474720" cy="457200"/>
          </a:xfrm>
          <a:prstGeom prst="rect">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59" y="1207008"/>
            <a:ext cx="3474720" cy="411480"/>
          </a:xfrm>
          <a:prstGeom prst="rect">
            <a:avLst/>
          </a:prstGeom>
          <a:noFill/>
        </p:spPr>
        <p:txBody>
          <a:bodyPr wrap="square">
            <a:spAutoFit/>
          </a:bodyPr>
          <a:lstStyle/>
          <a:p>
            <a:pPr algn="ctr"/>
            <a:r>
              <a:rPr sz="1300" b="1" i="0">
                <a:solidFill>
                  <a:srgbClr val="FFFFFF"/>
                </a:solidFill>
                <a:latin typeface="Calibri"/>
              </a:rPr>
              <a:t>BACKEND</a:t>
            </a:r>
          </a:p>
        </p:txBody>
      </p:sp>
      <p:sp>
        <p:nvSpPr>
          <p:cNvPr id="18" name="Rectangle 17"/>
          <p:cNvSpPr/>
          <p:nvPr/>
        </p:nvSpPr>
        <p:spPr>
          <a:xfrm>
            <a:off x="4480559" y="1664208"/>
            <a:ext cx="3474720" cy="4206240"/>
          </a:xfrm>
          <a:prstGeom prst="rect">
            <a:avLst/>
          </a:prstGeom>
          <a:solidFill>
            <a:srgbClr val="1A2035"/>
          </a:solidFill>
          <a:ln w="12700">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39" y="1828800"/>
            <a:ext cx="3108960" cy="594360"/>
          </a:xfrm>
          <a:prstGeom prst="rect">
            <a:avLst/>
          </a:prstGeom>
          <a:noFill/>
        </p:spPr>
        <p:txBody>
          <a:bodyPr wrap="square">
            <a:spAutoFit/>
          </a:bodyPr>
          <a:lstStyle/>
          <a:p>
            <a:pPr algn="l"/>
            <a:r>
              <a:rPr sz="1200" b="0" i="0">
                <a:solidFill>
                  <a:srgbClr val="E85A14"/>
                </a:solidFill>
                <a:latin typeface="Calibri"/>
              </a:rPr>
              <a:t>▸  Python 3.14</a:t>
            </a:r>
          </a:p>
        </p:txBody>
      </p:sp>
      <p:sp>
        <p:nvSpPr>
          <p:cNvPr id="20" name="TextBox 19"/>
          <p:cNvSpPr txBox="1"/>
          <p:nvPr/>
        </p:nvSpPr>
        <p:spPr>
          <a:xfrm>
            <a:off x="4663439" y="2514600"/>
            <a:ext cx="3108960" cy="594360"/>
          </a:xfrm>
          <a:prstGeom prst="rect">
            <a:avLst/>
          </a:prstGeom>
          <a:noFill/>
        </p:spPr>
        <p:txBody>
          <a:bodyPr wrap="square">
            <a:spAutoFit/>
          </a:bodyPr>
          <a:lstStyle/>
          <a:p>
            <a:pPr algn="l"/>
            <a:r>
              <a:rPr sz="1200" b="0" i="0">
                <a:solidFill>
                  <a:srgbClr val="E85A14"/>
                </a:solidFill>
                <a:latin typeface="Calibri"/>
              </a:rPr>
              <a:t>▸  Flask 3.1</a:t>
            </a:r>
          </a:p>
        </p:txBody>
      </p:sp>
      <p:sp>
        <p:nvSpPr>
          <p:cNvPr id="21" name="TextBox 20"/>
          <p:cNvSpPr txBox="1"/>
          <p:nvPr/>
        </p:nvSpPr>
        <p:spPr>
          <a:xfrm>
            <a:off x="4663439" y="3200400"/>
            <a:ext cx="3108960" cy="594360"/>
          </a:xfrm>
          <a:prstGeom prst="rect">
            <a:avLst/>
          </a:prstGeom>
          <a:noFill/>
        </p:spPr>
        <p:txBody>
          <a:bodyPr wrap="square">
            <a:spAutoFit/>
          </a:bodyPr>
          <a:lstStyle/>
          <a:p>
            <a:pPr algn="l"/>
            <a:r>
              <a:rPr sz="1200" b="0" i="0">
                <a:solidFill>
                  <a:srgbClr val="E85A14"/>
                </a:solidFill>
                <a:latin typeface="Calibri"/>
              </a:rPr>
              <a:t>▸  SQLAlchemy 2.0</a:t>
            </a:r>
          </a:p>
        </p:txBody>
      </p:sp>
      <p:sp>
        <p:nvSpPr>
          <p:cNvPr id="22" name="TextBox 21"/>
          <p:cNvSpPr txBox="1"/>
          <p:nvPr/>
        </p:nvSpPr>
        <p:spPr>
          <a:xfrm>
            <a:off x="4663439" y="3886200"/>
            <a:ext cx="3108960" cy="594360"/>
          </a:xfrm>
          <a:prstGeom prst="rect">
            <a:avLst/>
          </a:prstGeom>
          <a:noFill/>
        </p:spPr>
        <p:txBody>
          <a:bodyPr wrap="square">
            <a:spAutoFit/>
          </a:bodyPr>
          <a:lstStyle/>
          <a:p>
            <a:pPr algn="l"/>
            <a:r>
              <a:rPr sz="1200" b="0" i="0">
                <a:solidFill>
                  <a:srgbClr val="E85A14"/>
                </a:solidFill>
                <a:latin typeface="Calibri"/>
              </a:rPr>
              <a:t>▸  pandas 3.0</a:t>
            </a:r>
          </a:p>
        </p:txBody>
      </p:sp>
      <p:sp>
        <p:nvSpPr>
          <p:cNvPr id="23" name="TextBox 22"/>
          <p:cNvSpPr txBox="1"/>
          <p:nvPr/>
        </p:nvSpPr>
        <p:spPr>
          <a:xfrm>
            <a:off x="4663439" y="4572000"/>
            <a:ext cx="3108960" cy="594360"/>
          </a:xfrm>
          <a:prstGeom prst="rect">
            <a:avLst/>
          </a:prstGeom>
          <a:noFill/>
        </p:spPr>
        <p:txBody>
          <a:bodyPr wrap="square">
            <a:spAutoFit/>
          </a:bodyPr>
          <a:lstStyle/>
          <a:p>
            <a:pPr algn="l"/>
            <a:r>
              <a:rPr sz="1200" b="0" i="0">
                <a:solidFill>
                  <a:srgbClr val="E2E8F0"/>
                </a:solidFill>
                <a:latin typeface="Calibri"/>
              </a:rPr>
              <a:t>▸  werkzeug.security</a:t>
            </a:r>
          </a:p>
        </p:txBody>
      </p:sp>
      <p:sp>
        <p:nvSpPr>
          <p:cNvPr id="24" name="TextBox 23"/>
          <p:cNvSpPr txBox="1"/>
          <p:nvPr/>
        </p:nvSpPr>
        <p:spPr>
          <a:xfrm>
            <a:off x="4663439" y="5257800"/>
            <a:ext cx="3108960" cy="594360"/>
          </a:xfrm>
          <a:prstGeom prst="rect">
            <a:avLst/>
          </a:prstGeom>
          <a:noFill/>
        </p:spPr>
        <p:txBody>
          <a:bodyPr wrap="square">
            <a:spAutoFit/>
          </a:bodyPr>
          <a:lstStyle/>
          <a:p>
            <a:pPr algn="l"/>
            <a:r>
              <a:rPr sz="1200" b="0" i="0">
                <a:solidFill>
                  <a:srgbClr val="E2E8F0"/>
                </a:solidFill>
                <a:latin typeface="Calibri"/>
              </a:rPr>
              <a:t>▸  12 fonctions KPI</a:t>
            </a:r>
          </a:p>
        </p:txBody>
      </p:sp>
      <p:sp>
        <p:nvSpPr>
          <p:cNvPr id="25" name="Rectangle 24"/>
          <p:cNvSpPr/>
          <p:nvPr/>
        </p:nvSpPr>
        <p:spPr>
          <a:xfrm>
            <a:off x="8229598" y="1188720"/>
            <a:ext cx="347472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8" y="1207008"/>
            <a:ext cx="3474720" cy="411480"/>
          </a:xfrm>
          <a:prstGeom prst="rect">
            <a:avLst/>
          </a:prstGeom>
          <a:noFill/>
        </p:spPr>
        <p:txBody>
          <a:bodyPr wrap="square">
            <a:spAutoFit/>
          </a:bodyPr>
          <a:lstStyle/>
          <a:p>
            <a:pPr algn="ctr"/>
            <a:r>
              <a:rPr sz="1300" b="1" i="0">
                <a:solidFill>
                  <a:srgbClr val="0D1117"/>
                </a:solidFill>
                <a:latin typeface="Calibri"/>
              </a:rPr>
              <a:t>FRONTEND</a:t>
            </a:r>
          </a:p>
        </p:txBody>
      </p:sp>
      <p:sp>
        <p:nvSpPr>
          <p:cNvPr id="27" name="Rectangle 26"/>
          <p:cNvSpPr/>
          <p:nvPr/>
        </p:nvSpPr>
        <p:spPr>
          <a:xfrm>
            <a:off x="8229598" y="1664208"/>
            <a:ext cx="3474720" cy="4206240"/>
          </a:xfrm>
          <a:prstGeom prst="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78" y="1828800"/>
            <a:ext cx="3108960" cy="594360"/>
          </a:xfrm>
          <a:prstGeom prst="rect">
            <a:avLst/>
          </a:prstGeom>
          <a:noFill/>
        </p:spPr>
        <p:txBody>
          <a:bodyPr wrap="square">
            <a:spAutoFit/>
          </a:bodyPr>
          <a:lstStyle/>
          <a:p>
            <a:pPr algn="l"/>
            <a:r>
              <a:rPr sz="1200" b="0" i="0">
                <a:solidFill>
                  <a:srgbClr val="F59E0B"/>
                </a:solidFill>
                <a:latin typeface="Calibri"/>
              </a:rPr>
              <a:t>▸  HTML / CSS</a:t>
            </a:r>
          </a:p>
        </p:txBody>
      </p:sp>
      <p:sp>
        <p:nvSpPr>
          <p:cNvPr id="29" name="TextBox 28"/>
          <p:cNvSpPr txBox="1"/>
          <p:nvPr/>
        </p:nvSpPr>
        <p:spPr>
          <a:xfrm>
            <a:off x="8412478" y="2514600"/>
            <a:ext cx="3108960" cy="594360"/>
          </a:xfrm>
          <a:prstGeom prst="rect">
            <a:avLst/>
          </a:prstGeom>
          <a:noFill/>
        </p:spPr>
        <p:txBody>
          <a:bodyPr wrap="square">
            <a:spAutoFit/>
          </a:bodyPr>
          <a:lstStyle/>
          <a:p>
            <a:pPr algn="l"/>
            <a:r>
              <a:rPr sz="1200" b="0" i="0">
                <a:solidFill>
                  <a:srgbClr val="F59E0B"/>
                </a:solidFill>
                <a:latin typeface="Calibri"/>
              </a:rPr>
              <a:t>▸  Jinja2 (SSR)</a:t>
            </a:r>
          </a:p>
        </p:txBody>
      </p:sp>
      <p:sp>
        <p:nvSpPr>
          <p:cNvPr id="30" name="TextBox 29"/>
          <p:cNvSpPr txBox="1"/>
          <p:nvPr/>
        </p:nvSpPr>
        <p:spPr>
          <a:xfrm>
            <a:off x="8412478" y="3200400"/>
            <a:ext cx="3108960" cy="594360"/>
          </a:xfrm>
          <a:prstGeom prst="rect">
            <a:avLst/>
          </a:prstGeom>
          <a:noFill/>
        </p:spPr>
        <p:txBody>
          <a:bodyPr wrap="square">
            <a:spAutoFit/>
          </a:bodyPr>
          <a:lstStyle/>
          <a:p>
            <a:pPr algn="l"/>
            <a:r>
              <a:rPr sz="1200" b="0" i="0">
                <a:solidFill>
                  <a:srgbClr val="F59E0B"/>
                </a:solidFill>
                <a:latin typeface="Calibri"/>
              </a:rPr>
              <a:t>▸  ApexCharts</a:t>
            </a:r>
          </a:p>
        </p:txBody>
      </p:sp>
      <p:sp>
        <p:nvSpPr>
          <p:cNvPr id="31" name="TextBox 30"/>
          <p:cNvSpPr txBox="1"/>
          <p:nvPr/>
        </p:nvSpPr>
        <p:spPr>
          <a:xfrm>
            <a:off x="8412478" y="3886200"/>
            <a:ext cx="3108960" cy="594360"/>
          </a:xfrm>
          <a:prstGeom prst="rect">
            <a:avLst/>
          </a:prstGeom>
          <a:noFill/>
        </p:spPr>
        <p:txBody>
          <a:bodyPr wrap="square">
            <a:spAutoFit/>
          </a:bodyPr>
          <a:lstStyle/>
          <a:p>
            <a:pPr algn="l"/>
            <a:r>
              <a:rPr sz="1200" b="0" i="0">
                <a:solidFill>
                  <a:srgbClr val="F59E0B"/>
                </a:solidFill>
                <a:latin typeface="Calibri"/>
              </a:rPr>
              <a:t>▸  Lucide Icons</a:t>
            </a:r>
          </a:p>
        </p:txBody>
      </p:sp>
      <p:sp>
        <p:nvSpPr>
          <p:cNvPr id="32" name="TextBox 31"/>
          <p:cNvSpPr txBox="1"/>
          <p:nvPr/>
        </p:nvSpPr>
        <p:spPr>
          <a:xfrm>
            <a:off x="8412478" y="4572000"/>
            <a:ext cx="3108960" cy="594360"/>
          </a:xfrm>
          <a:prstGeom prst="rect">
            <a:avLst/>
          </a:prstGeom>
          <a:noFill/>
        </p:spPr>
        <p:txBody>
          <a:bodyPr wrap="square">
            <a:spAutoFit/>
          </a:bodyPr>
          <a:lstStyle/>
          <a:p>
            <a:pPr algn="l"/>
            <a:r>
              <a:rPr sz="1200" b="0" i="0">
                <a:solidFill>
                  <a:srgbClr val="E2E8F0"/>
                </a:solidFill>
                <a:latin typeface="Calibri"/>
              </a:rPr>
              <a:t>▸  Leaflet.js (carte)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6" name="TextBox 5"/>
          <p:cNvSpPr txBox="1"/>
          <p:nvPr/>
        </p:nvSpPr>
        <p:spPr>
          <a:xfrm>
            <a:off x="1371600" y="1371600"/>
            <a:ext cx="2743200" cy="1645920"/>
          </a:xfrm>
          <a:prstGeom prst="rect">
            <a:avLst/>
          </a:prstGeom>
          <a:noFill/>
        </p:spPr>
        <p:txBody>
          <a:bodyPr wrap="square">
            <a:spAutoFit/>
          </a:bodyPr>
          <a:lstStyle/>
          <a:p>
            <a:pPr algn="ctr"/>
            <a:r>
              <a:rPr sz="10000" b="1" i="0">
                <a:solidFill>
                  <a:srgbClr val="3B82F6"/>
                </a:solidFill>
                <a:latin typeface="Calibri"/>
              </a:rPr>
              <a:t>02</a:t>
            </a:r>
          </a:p>
        </p:txBody>
      </p:sp>
      <p:sp>
        <p:nvSpPr>
          <p:cNvPr id="7" name="TextBox 6"/>
          <p:cNvSpPr txBox="1"/>
          <p:nvPr/>
        </p:nvSpPr>
        <p:spPr>
          <a:xfrm>
            <a:off x="3840480" y="1645920"/>
            <a:ext cx="7315200" cy="1645920"/>
          </a:xfrm>
          <a:prstGeom prst="rect">
            <a:avLst/>
          </a:prstGeom>
          <a:noFill/>
        </p:spPr>
        <p:txBody>
          <a:bodyPr wrap="square">
            <a:spAutoFit/>
          </a:bodyPr>
          <a:lstStyle/>
          <a:p>
            <a:pPr algn="l"/>
            <a:r>
              <a:rPr sz="4000" b="1" i="0">
                <a:solidFill>
                  <a:srgbClr val="FFFFFF"/>
                </a:solidFill>
                <a:latin typeface="Calibri"/>
              </a:rPr>
              <a:t>Démonstration
Fonctionnelle</a:t>
            </a:r>
          </a:p>
        </p:txBody>
      </p:sp>
      <p:sp>
        <p:nvSpPr>
          <p:cNvPr id="8" name="TextBox 7"/>
          <p:cNvSpPr txBox="1"/>
          <p:nvPr/>
        </p:nvSpPr>
        <p:spPr>
          <a:xfrm>
            <a:off x="3840480" y="3383280"/>
            <a:ext cx="6400800" cy="548640"/>
          </a:xfrm>
          <a:prstGeom prst="rect">
            <a:avLst/>
          </a:prstGeom>
          <a:noFill/>
        </p:spPr>
        <p:txBody>
          <a:bodyPr wrap="square">
            <a:spAutoFit/>
          </a:bodyPr>
          <a:lstStyle/>
          <a:p>
            <a:pPr algn="l"/>
            <a:r>
              <a:rPr sz="2000" b="0" i="1">
                <a:solidFill>
                  <a:srgbClr val="3B82F6"/>
                </a:solidFill>
                <a:latin typeface="Calibri"/>
              </a:rPr>
              <a:t>http://localhost:5000</a:t>
            </a:r>
          </a:p>
        </p:txBody>
      </p:sp>
      <p:sp>
        <p:nvSpPr>
          <p:cNvPr id="9" name="TextBox 8"/>
          <p:cNvSpPr txBox="1"/>
          <p:nvPr/>
        </p:nvSpPr>
        <p:spPr>
          <a:xfrm>
            <a:off x="3840480" y="4069080"/>
            <a:ext cx="6400800" cy="384048"/>
          </a:xfrm>
          <a:prstGeom prst="rect">
            <a:avLst/>
          </a:prstGeom>
          <a:noFill/>
        </p:spPr>
        <p:txBody>
          <a:bodyPr wrap="square">
            <a:spAutoFit/>
          </a:bodyPr>
          <a:lstStyle/>
          <a:p>
            <a:pPr algn="l"/>
            <a:r>
              <a:rPr sz="1300" b="0" i="0">
                <a:solidFill>
                  <a:srgbClr val="6B7280"/>
                </a:solidFill>
                <a:latin typeface="Calibri"/>
              </a:rPr>
              <a:t>→  Vue générale · Filtres temporels</a:t>
            </a:r>
          </a:p>
        </p:txBody>
      </p:sp>
      <p:sp>
        <p:nvSpPr>
          <p:cNvPr id="10" name="TextBox 9"/>
          <p:cNvSpPr txBox="1"/>
          <p:nvPr/>
        </p:nvSpPr>
        <p:spPr>
          <a:xfrm>
            <a:off x="3840480" y="4480560"/>
            <a:ext cx="6400800" cy="384048"/>
          </a:xfrm>
          <a:prstGeom prst="rect">
            <a:avLst/>
          </a:prstGeom>
          <a:noFill/>
        </p:spPr>
        <p:txBody>
          <a:bodyPr wrap="square">
            <a:spAutoFit/>
          </a:bodyPr>
          <a:lstStyle/>
          <a:p>
            <a:pPr algn="l"/>
            <a:r>
              <a:rPr sz="1300" b="0" i="0">
                <a:solidFill>
                  <a:srgbClr val="6B7280"/>
                </a:solidFill>
                <a:latin typeface="Calibri"/>
              </a:rPr>
              <a:t>→  Production KPI 1–4</a:t>
            </a:r>
          </a:p>
        </p:txBody>
      </p:sp>
      <p:sp>
        <p:nvSpPr>
          <p:cNvPr id="11" name="TextBox 10"/>
          <p:cNvSpPr txBox="1"/>
          <p:nvPr/>
        </p:nvSpPr>
        <p:spPr>
          <a:xfrm>
            <a:off x="3840480" y="4892040"/>
            <a:ext cx="6400800" cy="384048"/>
          </a:xfrm>
          <a:prstGeom prst="rect">
            <a:avLst/>
          </a:prstGeom>
          <a:noFill/>
        </p:spPr>
        <p:txBody>
          <a:bodyPr wrap="square">
            <a:spAutoFit/>
          </a:bodyPr>
          <a:lstStyle/>
          <a:p>
            <a:pPr algn="l"/>
            <a:r>
              <a:rPr sz="1300" b="0" i="0">
                <a:solidFill>
                  <a:srgbClr val="6B7280"/>
                </a:solidFill>
                <a:latin typeface="Calibri"/>
              </a:rPr>
              <a:t>→  Qualité KPI 5–9</a:t>
            </a:r>
          </a:p>
        </p:txBody>
      </p:sp>
      <p:sp>
        <p:nvSpPr>
          <p:cNvPr id="12" name="TextBox 11"/>
          <p:cNvSpPr txBox="1"/>
          <p:nvPr/>
        </p:nvSpPr>
        <p:spPr>
          <a:xfrm>
            <a:off x="3840480" y="5303520"/>
            <a:ext cx="6400800" cy="384048"/>
          </a:xfrm>
          <a:prstGeom prst="rect">
            <a:avLst/>
          </a:prstGeom>
          <a:noFill/>
        </p:spPr>
        <p:txBody>
          <a:bodyPr wrap="square">
            <a:spAutoFit/>
          </a:bodyPr>
          <a:lstStyle/>
          <a:p>
            <a:pPr algn="l"/>
            <a:r>
              <a:rPr sz="1300" b="0" i="0">
                <a:solidFill>
                  <a:srgbClr val="6B7280"/>
                </a:solidFill>
                <a:latin typeface="Calibri"/>
              </a:rPr>
              <a:t>→  Machines KPI 10</a:t>
            </a:r>
          </a:p>
        </p:txBody>
      </p:sp>
      <p:sp>
        <p:nvSpPr>
          <p:cNvPr id="13" name="TextBox 12"/>
          <p:cNvSpPr txBox="1"/>
          <p:nvPr/>
        </p:nvSpPr>
        <p:spPr>
          <a:xfrm>
            <a:off x="3840480" y="5715000"/>
            <a:ext cx="6400800" cy="384048"/>
          </a:xfrm>
          <a:prstGeom prst="rect">
            <a:avLst/>
          </a:prstGeom>
          <a:noFill/>
        </p:spPr>
        <p:txBody>
          <a:bodyPr wrap="square">
            <a:spAutoFit/>
          </a:bodyPr>
          <a:lstStyle/>
          <a:p>
            <a:pPr algn="l"/>
            <a:r>
              <a:rPr sz="1300" b="0" i="0">
                <a:solidFill>
                  <a:srgbClr val="6B7280"/>
                </a:solidFill>
                <a:latin typeface="Calibri"/>
              </a:rPr>
              <a:t>→  Maintenance KPI 11–12</a:t>
            </a:r>
          </a:p>
        </p:txBody>
      </p:sp>
      <p:sp>
        <p:nvSpPr>
          <p:cNvPr id="14" name="TextBox 13"/>
          <p:cNvSpPr txBox="1"/>
          <p:nvPr/>
        </p:nvSpPr>
        <p:spPr>
          <a:xfrm>
            <a:off x="3840480" y="6126480"/>
            <a:ext cx="6400800" cy="384048"/>
          </a:xfrm>
          <a:prstGeom prst="rect">
            <a:avLst/>
          </a:prstGeom>
          <a:noFill/>
        </p:spPr>
        <p:txBody>
          <a:bodyPr wrap="square">
            <a:spAutoFit/>
          </a:bodyPr>
          <a:lstStyle/>
          <a:p>
            <a:pPr algn="l"/>
            <a:r>
              <a:rPr sz="1300" b="0" i="0">
                <a:solidFill>
                  <a:srgbClr val="6B7280"/>
                </a:solidFill>
                <a:latin typeface="Calibri"/>
              </a:rPr>
              <a:t>→  Géographie · Carte IUT Lumière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7" name="TextBox 6"/>
          <p:cNvSpPr txBox="1"/>
          <p:nvPr/>
        </p:nvSpPr>
        <p:spPr>
          <a:xfrm>
            <a:off x="731520" y="201168"/>
            <a:ext cx="9144000" cy="640080"/>
          </a:xfrm>
          <a:prstGeom prst="rect">
            <a:avLst/>
          </a:prstGeom>
          <a:noFill/>
        </p:spPr>
        <p:txBody>
          <a:bodyPr wrap="square">
            <a:spAutoFit/>
          </a:bodyPr>
          <a:lstStyle/>
          <a:p>
            <a:pPr algn="l"/>
            <a:r>
              <a:rPr sz="2600" b="1" i="0">
                <a:solidFill>
                  <a:srgbClr val="FFFFFF"/>
                </a:solidFill>
                <a:latin typeface="Calibri"/>
              </a:rPr>
              <a:t>02  Les 12 indicateurs couverts</a:t>
            </a:r>
          </a:p>
        </p:txBody>
      </p:sp>
      <p:sp>
        <p:nvSpPr>
          <p:cNvPr id="8" name="Rectangle 7"/>
          <p:cNvSpPr/>
          <p:nvPr/>
        </p:nvSpPr>
        <p:spPr>
          <a:xfrm>
            <a:off x="685800" y="1188720"/>
            <a:ext cx="2651760" cy="411480"/>
          </a:xfrm>
          <a:prstGeom prst="rect">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188720"/>
            <a:ext cx="2651760" cy="411480"/>
          </a:xfrm>
          <a:prstGeom prst="rect">
            <a:avLst/>
          </a:prstGeom>
          <a:noFill/>
        </p:spPr>
        <p:txBody>
          <a:bodyPr wrap="square">
            <a:spAutoFit/>
          </a:bodyPr>
          <a:lstStyle/>
          <a:p>
            <a:pPr algn="ctr"/>
            <a:r>
              <a:rPr sz="1200" b="1" i="0">
                <a:solidFill>
                  <a:srgbClr val="0D1117"/>
                </a:solidFill>
                <a:latin typeface="Calibri"/>
              </a:rPr>
              <a:t>Production</a:t>
            </a:r>
          </a:p>
        </p:txBody>
      </p:sp>
      <p:sp>
        <p:nvSpPr>
          <p:cNvPr id="10" name="Rectangle 9"/>
          <p:cNvSpPr/>
          <p:nvPr/>
        </p:nvSpPr>
        <p:spPr>
          <a:xfrm>
            <a:off x="685800" y="1618488"/>
            <a:ext cx="2651760" cy="4572000"/>
          </a:xfrm>
          <a:prstGeom prst="rect">
            <a:avLst/>
          </a:prstGeom>
          <a:solidFill>
            <a:srgbClr val="1A2035"/>
          </a:solidFill>
          <a:ln w="12700">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83080"/>
            <a:ext cx="2377440" cy="685800"/>
          </a:xfrm>
          <a:prstGeom prst="rect">
            <a:avLst/>
          </a:prstGeom>
          <a:noFill/>
        </p:spPr>
        <p:txBody>
          <a:bodyPr wrap="square">
            <a:spAutoFit/>
          </a:bodyPr>
          <a:lstStyle/>
          <a:p>
            <a:pPr algn="l"/>
            <a:r>
              <a:rPr sz="1000" b="0" i="0">
                <a:solidFill>
                  <a:srgbClr val="FFFFFF"/>
                </a:solidFill>
                <a:latin typeface="Calibri"/>
              </a:rPr>
              <a:t>KPI 1 – Produits en cours</a:t>
            </a:r>
          </a:p>
        </p:txBody>
      </p:sp>
      <p:sp>
        <p:nvSpPr>
          <p:cNvPr id="12" name="TextBox 11"/>
          <p:cNvSpPr txBox="1"/>
          <p:nvPr/>
        </p:nvSpPr>
        <p:spPr>
          <a:xfrm>
            <a:off x="822960" y="2532888"/>
            <a:ext cx="2377440" cy="685800"/>
          </a:xfrm>
          <a:prstGeom prst="rect">
            <a:avLst/>
          </a:prstGeom>
          <a:noFill/>
        </p:spPr>
        <p:txBody>
          <a:bodyPr wrap="square">
            <a:spAutoFit/>
          </a:bodyPr>
          <a:lstStyle/>
          <a:p>
            <a:pPr algn="l"/>
            <a:r>
              <a:rPr sz="1000" b="0" i="0">
                <a:solidFill>
                  <a:srgbClr val="FFFFFF"/>
                </a:solidFill>
                <a:latin typeface="Calibri"/>
              </a:rPr>
              <a:t>KPI 2 – Lead Time</a:t>
            </a:r>
          </a:p>
        </p:txBody>
      </p:sp>
      <p:sp>
        <p:nvSpPr>
          <p:cNvPr id="13" name="TextBox 12"/>
          <p:cNvSpPr txBox="1"/>
          <p:nvPr/>
        </p:nvSpPr>
        <p:spPr>
          <a:xfrm>
            <a:off x="822960" y="3282696"/>
            <a:ext cx="2377440" cy="685800"/>
          </a:xfrm>
          <a:prstGeom prst="rect">
            <a:avLst/>
          </a:prstGeom>
          <a:noFill/>
        </p:spPr>
        <p:txBody>
          <a:bodyPr wrap="square">
            <a:spAutoFit/>
          </a:bodyPr>
          <a:lstStyle/>
          <a:p>
            <a:pPr algn="l"/>
            <a:r>
              <a:rPr sz="1000" b="0" i="0">
                <a:solidFill>
                  <a:srgbClr val="FFFFFF"/>
                </a:solidFill>
                <a:latin typeface="Calibri"/>
              </a:rPr>
              <a:t>KPI 3 – Avancement OF (FIFO)</a:t>
            </a:r>
          </a:p>
        </p:txBody>
      </p:sp>
      <p:sp>
        <p:nvSpPr>
          <p:cNvPr id="14" name="TextBox 13"/>
          <p:cNvSpPr txBox="1"/>
          <p:nvPr/>
        </p:nvSpPr>
        <p:spPr>
          <a:xfrm>
            <a:off x="822960" y="4032504"/>
            <a:ext cx="2377440" cy="685800"/>
          </a:xfrm>
          <a:prstGeom prst="rect">
            <a:avLst/>
          </a:prstGeom>
          <a:noFill/>
        </p:spPr>
        <p:txBody>
          <a:bodyPr wrap="square">
            <a:spAutoFit/>
          </a:bodyPr>
          <a:lstStyle/>
          <a:p>
            <a:pPr algn="l"/>
            <a:r>
              <a:rPr sz="1000" b="0" i="0">
                <a:solidFill>
                  <a:srgbClr val="FFFFFF"/>
                </a:solidFill>
                <a:latin typeface="Calibri"/>
              </a:rPr>
              <a:t>KPI 4 – OF terminés/jour</a:t>
            </a:r>
          </a:p>
        </p:txBody>
      </p:sp>
      <p:sp>
        <p:nvSpPr>
          <p:cNvPr id="15" name="Rectangle 14"/>
          <p:cNvSpPr/>
          <p:nvPr/>
        </p:nvSpPr>
        <p:spPr>
          <a:xfrm>
            <a:off x="3520440" y="1188720"/>
            <a:ext cx="265176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1188720"/>
            <a:ext cx="2651760" cy="411480"/>
          </a:xfrm>
          <a:prstGeom prst="rect">
            <a:avLst/>
          </a:prstGeom>
          <a:noFill/>
        </p:spPr>
        <p:txBody>
          <a:bodyPr wrap="square">
            <a:spAutoFit/>
          </a:bodyPr>
          <a:lstStyle/>
          <a:p>
            <a:pPr algn="ctr"/>
            <a:r>
              <a:rPr sz="1200" b="1" i="0">
                <a:solidFill>
                  <a:srgbClr val="0D1117"/>
                </a:solidFill>
                <a:latin typeface="Calibri"/>
              </a:rPr>
              <a:t>Qualité</a:t>
            </a:r>
          </a:p>
        </p:txBody>
      </p:sp>
      <p:sp>
        <p:nvSpPr>
          <p:cNvPr id="17" name="Rectangle 16"/>
          <p:cNvSpPr/>
          <p:nvPr/>
        </p:nvSpPr>
        <p:spPr>
          <a:xfrm>
            <a:off x="3520440" y="1618488"/>
            <a:ext cx="2651760" cy="4572000"/>
          </a:xfrm>
          <a:prstGeom prst="rect">
            <a:avLst/>
          </a:prstGeom>
          <a:solidFill>
            <a:srgbClr val="1A20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1783080"/>
            <a:ext cx="2377440" cy="685800"/>
          </a:xfrm>
          <a:prstGeom prst="rect">
            <a:avLst/>
          </a:prstGeom>
          <a:noFill/>
        </p:spPr>
        <p:txBody>
          <a:bodyPr wrap="square">
            <a:spAutoFit/>
          </a:bodyPr>
          <a:lstStyle/>
          <a:p>
            <a:pPr algn="l"/>
            <a:r>
              <a:rPr sz="1000" b="0" i="0">
                <a:solidFill>
                  <a:srgbClr val="FFFFFF"/>
                </a:solidFill>
                <a:latin typeface="Calibri"/>
              </a:rPr>
              <a:t>KPI 5 – TRS / OEE</a:t>
            </a:r>
          </a:p>
        </p:txBody>
      </p:sp>
      <p:sp>
        <p:nvSpPr>
          <p:cNvPr id="19" name="TextBox 18"/>
          <p:cNvSpPr txBox="1"/>
          <p:nvPr/>
        </p:nvSpPr>
        <p:spPr>
          <a:xfrm>
            <a:off x="3657600" y="2532888"/>
            <a:ext cx="2377440" cy="685800"/>
          </a:xfrm>
          <a:prstGeom prst="rect">
            <a:avLst/>
          </a:prstGeom>
          <a:noFill/>
        </p:spPr>
        <p:txBody>
          <a:bodyPr wrap="square">
            <a:spAutoFit/>
          </a:bodyPr>
          <a:lstStyle/>
          <a:p>
            <a:pPr algn="l"/>
            <a:r>
              <a:rPr sz="1000" b="0" i="0">
                <a:solidFill>
                  <a:srgbClr val="FFFFFF"/>
                </a:solidFill>
                <a:latin typeface="Calibri"/>
              </a:rPr>
              <a:t>KPI 6 – Occupation machines</a:t>
            </a:r>
          </a:p>
        </p:txBody>
      </p:sp>
      <p:sp>
        <p:nvSpPr>
          <p:cNvPr id="20" name="TextBox 19"/>
          <p:cNvSpPr txBox="1"/>
          <p:nvPr/>
        </p:nvSpPr>
        <p:spPr>
          <a:xfrm>
            <a:off x="3657600" y="3282696"/>
            <a:ext cx="2377440" cy="685800"/>
          </a:xfrm>
          <a:prstGeom prst="rect">
            <a:avLst/>
          </a:prstGeom>
          <a:noFill/>
        </p:spPr>
        <p:txBody>
          <a:bodyPr wrap="square">
            <a:spAutoFit/>
          </a:bodyPr>
          <a:lstStyle/>
          <a:p>
            <a:pPr algn="l"/>
            <a:r>
              <a:rPr sz="1000" b="0" i="0">
                <a:solidFill>
                  <a:srgbClr val="FFFFFF"/>
                </a:solidFill>
                <a:latin typeface="Calibri"/>
              </a:rPr>
              <a:t>KPI 7 – Erreurs détectées</a:t>
            </a:r>
          </a:p>
        </p:txBody>
      </p:sp>
      <p:sp>
        <p:nvSpPr>
          <p:cNvPr id="21" name="TextBox 20"/>
          <p:cNvSpPr txBox="1"/>
          <p:nvPr/>
        </p:nvSpPr>
        <p:spPr>
          <a:xfrm>
            <a:off x="3657600" y="4032504"/>
            <a:ext cx="2377440" cy="685800"/>
          </a:xfrm>
          <a:prstGeom prst="rect">
            <a:avLst/>
          </a:prstGeom>
          <a:noFill/>
        </p:spPr>
        <p:txBody>
          <a:bodyPr wrap="square">
            <a:spAutoFit/>
          </a:bodyPr>
          <a:lstStyle/>
          <a:p>
            <a:pPr algn="l"/>
            <a:r>
              <a:rPr sz="1000" b="0" i="0">
                <a:solidFill>
                  <a:srgbClr val="FFFFFF"/>
                </a:solidFill>
                <a:latin typeface="Calibri"/>
              </a:rPr>
              <a:t>KPI 8 – Pareto erreurs</a:t>
            </a:r>
          </a:p>
        </p:txBody>
      </p:sp>
      <p:sp>
        <p:nvSpPr>
          <p:cNvPr id="22" name="TextBox 21"/>
          <p:cNvSpPr txBox="1"/>
          <p:nvPr/>
        </p:nvSpPr>
        <p:spPr>
          <a:xfrm>
            <a:off x="3657600" y="4782312"/>
            <a:ext cx="2377440" cy="685800"/>
          </a:xfrm>
          <a:prstGeom prst="rect">
            <a:avLst/>
          </a:prstGeom>
          <a:noFill/>
        </p:spPr>
        <p:txBody>
          <a:bodyPr wrap="square">
            <a:spAutoFit/>
          </a:bodyPr>
          <a:lstStyle/>
          <a:p>
            <a:pPr algn="l"/>
            <a:r>
              <a:rPr sz="1000" b="0" i="0">
                <a:solidFill>
                  <a:srgbClr val="FFFFFF"/>
                </a:solidFill>
                <a:latin typeface="Calibri"/>
              </a:rPr>
              <a:t>KPI 9 – First Pass Yield</a:t>
            </a:r>
          </a:p>
        </p:txBody>
      </p:sp>
      <p:sp>
        <p:nvSpPr>
          <p:cNvPr id="23" name="Rectangle 22"/>
          <p:cNvSpPr/>
          <p:nvPr/>
        </p:nvSpPr>
        <p:spPr>
          <a:xfrm>
            <a:off x="6355080" y="1188720"/>
            <a:ext cx="265176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1188720"/>
            <a:ext cx="2651760" cy="411480"/>
          </a:xfrm>
          <a:prstGeom prst="rect">
            <a:avLst/>
          </a:prstGeom>
          <a:noFill/>
        </p:spPr>
        <p:txBody>
          <a:bodyPr wrap="square">
            <a:spAutoFit/>
          </a:bodyPr>
          <a:lstStyle/>
          <a:p>
            <a:pPr algn="ctr"/>
            <a:r>
              <a:rPr sz="1200" b="1" i="0">
                <a:solidFill>
                  <a:srgbClr val="0D1117"/>
                </a:solidFill>
                <a:latin typeface="Calibri"/>
              </a:rPr>
              <a:t>Machines</a:t>
            </a:r>
          </a:p>
        </p:txBody>
      </p:sp>
      <p:sp>
        <p:nvSpPr>
          <p:cNvPr id="25" name="Rectangle 24"/>
          <p:cNvSpPr/>
          <p:nvPr/>
        </p:nvSpPr>
        <p:spPr>
          <a:xfrm>
            <a:off x="6355080" y="1618488"/>
            <a:ext cx="2651760" cy="4572000"/>
          </a:xfrm>
          <a:prstGeom prst="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1783080"/>
            <a:ext cx="2377440" cy="685800"/>
          </a:xfrm>
          <a:prstGeom prst="rect">
            <a:avLst/>
          </a:prstGeom>
          <a:noFill/>
        </p:spPr>
        <p:txBody>
          <a:bodyPr wrap="square">
            <a:spAutoFit/>
          </a:bodyPr>
          <a:lstStyle/>
          <a:p>
            <a:pPr algn="l"/>
            <a:r>
              <a:rPr sz="1000" b="0" i="0">
                <a:solidFill>
                  <a:srgbClr val="FFFFFF"/>
                </a:solidFill>
                <a:latin typeface="Calibri"/>
              </a:rPr>
              <a:t>KPI 10 – MTBF / MTTR</a:t>
            </a:r>
          </a:p>
        </p:txBody>
      </p:sp>
      <p:sp>
        <p:nvSpPr>
          <p:cNvPr id="27" name="Rectangle 26"/>
          <p:cNvSpPr/>
          <p:nvPr/>
        </p:nvSpPr>
        <p:spPr>
          <a:xfrm>
            <a:off x="9189720" y="1188720"/>
            <a:ext cx="265176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1188720"/>
            <a:ext cx="2651760" cy="411480"/>
          </a:xfrm>
          <a:prstGeom prst="rect">
            <a:avLst/>
          </a:prstGeom>
          <a:noFill/>
        </p:spPr>
        <p:txBody>
          <a:bodyPr wrap="square">
            <a:spAutoFit/>
          </a:bodyPr>
          <a:lstStyle/>
          <a:p>
            <a:pPr algn="ctr"/>
            <a:r>
              <a:rPr sz="1200" b="1" i="0">
                <a:solidFill>
                  <a:srgbClr val="0D1117"/>
                </a:solidFill>
                <a:latin typeface="Calibri"/>
              </a:rPr>
              <a:t>Maintenance</a:t>
            </a:r>
          </a:p>
        </p:txBody>
      </p:sp>
      <p:sp>
        <p:nvSpPr>
          <p:cNvPr id="29" name="Rectangle 28"/>
          <p:cNvSpPr/>
          <p:nvPr/>
        </p:nvSpPr>
        <p:spPr>
          <a:xfrm>
            <a:off x="9189720" y="1618488"/>
            <a:ext cx="2651760" cy="4572000"/>
          </a:xfrm>
          <a:prstGeom prst="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0" y="1783080"/>
            <a:ext cx="2377440" cy="685800"/>
          </a:xfrm>
          <a:prstGeom prst="rect">
            <a:avLst/>
          </a:prstGeom>
          <a:noFill/>
        </p:spPr>
        <p:txBody>
          <a:bodyPr wrap="square">
            <a:spAutoFit/>
          </a:bodyPr>
          <a:lstStyle/>
          <a:p>
            <a:pPr algn="l"/>
            <a:r>
              <a:rPr sz="1000" b="0" i="0">
                <a:solidFill>
                  <a:srgbClr val="FFFFFF"/>
                </a:solidFill>
                <a:latin typeface="Calibri"/>
              </a:rPr>
              <a:t>KPI 11 – Remplissage buffers</a:t>
            </a:r>
          </a:p>
        </p:txBody>
      </p:sp>
      <p:sp>
        <p:nvSpPr>
          <p:cNvPr id="31" name="TextBox 30"/>
          <p:cNvSpPr txBox="1"/>
          <p:nvPr/>
        </p:nvSpPr>
        <p:spPr>
          <a:xfrm>
            <a:off x="9326880" y="2532888"/>
            <a:ext cx="2377440" cy="685800"/>
          </a:xfrm>
          <a:prstGeom prst="rect">
            <a:avLst/>
          </a:prstGeom>
          <a:noFill/>
        </p:spPr>
        <p:txBody>
          <a:bodyPr wrap="square">
            <a:spAutoFit/>
          </a:bodyPr>
          <a:lstStyle/>
          <a:p>
            <a:pPr algn="l"/>
            <a:r>
              <a:rPr sz="1000" b="0" i="0">
                <a:solidFill>
                  <a:srgbClr val="FFFFFF"/>
                </a:solidFill>
                <a:latin typeface="Calibri"/>
              </a:rPr>
              <a:t>KPI 12 – Énergie / OF</a:t>
            </a:r>
          </a:p>
        </p:txBody>
      </p:sp>
      <p:sp>
        <p:nvSpPr>
          <p:cNvPr id="32" name="TextBox 31"/>
          <p:cNvSpPr txBox="1"/>
          <p:nvPr/>
        </p:nvSpPr>
        <p:spPr>
          <a:xfrm>
            <a:off x="9326880" y="3282696"/>
            <a:ext cx="2377440" cy="685800"/>
          </a:xfrm>
          <a:prstGeom prst="rect">
            <a:avLst/>
          </a:prstGeom>
          <a:noFill/>
        </p:spPr>
        <p:txBody>
          <a:bodyPr wrap="square">
            <a:spAutoFit/>
          </a:bodyPr>
          <a:lstStyle/>
          <a:p>
            <a:pPr algn="l"/>
            <a:r>
              <a:rPr sz="1000" b="0" i="0">
                <a:solidFill>
                  <a:srgbClr val="FFFFFF"/>
                </a:solidFill>
                <a:latin typeface="Calibri"/>
              </a:rPr>
              <a:t>+ Capteurs CSV (puissance,
   pression, débit)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7" name="TextBox 6"/>
          <p:cNvSpPr txBox="1"/>
          <p:nvPr/>
        </p:nvSpPr>
        <p:spPr>
          <a:xfrm>
            <a:off x="731520" y="201168"/>
            <a:ext cx="9601200" cy="640080"/>
          </a:xfrm>
          <a:prstGeom prst="rect">
            <a:avLst/>
          </a:prstGeom>
          <a:noFill/>
        </p:spPr>
        <p:txBody>
          <a:bodyPr wrap="square">
            <a:spAutoFit/>
          </a:bodyPr>
          <a:lstStyle/>
          <a:p>
            <a:pPr algn="l"/>
            <a:r>
              <a:rPr sz="2200" b="1" i="0">
                <a:solidFill>
                  <a:srgbClr val="FFFFFF"/>
                </a:solidFill>
                <a:latin typeface="Calibri"/>
              </a:rPr>
              <a:t>03  Résultat n°1 – TRS : 5,4 % — un signal fort</a:t>
            </a:r>
          </a:p>
        </p:txBody>
      </p:sp>
      <p:sp>
        <p:nvSpPr>
          <p:cNvPr id="8" name="TextBox 7"/>
          <p:cNvSpPr txBox="1"/>
          <p:nvPr/>
        </p:nvSpPr>
        <p:spPr>
          <a:xfrm>
            <a:off x="731520" y="1188720"/>
            <a:ext cx="3200400" cy="1188720"/>
          </a:xfrm>
          <a:prstGeom prst="rect">
            <a:avLst/>
          </a:prstGeom>
          <a:noFill/>
        </p:spPr>
        <p:txBody>
          <a:bodyPr wrap="square">
            <a:spAutoFit/>
          </a:bodyPr>
          <a:lstStyle/>
          <a:p>
            <a:pPr algn="ctr"/>
            <a:r>
              <a:rPr sz="7200" b="1" i="0">
                <a:solidFill>
                  <a:srgbClr val="EF4444"/>
                </a:solidFill>
                <a:latin typeface="Calibri"/>
              </a:rPr>
              <a:t>5,4 %</a:t>
            </a:r>
          </a:p>
        </p:txBody>
      </p:sp>
      <p:sp>
        <p:nvSpPr>
          <p:cNvPr id="9" name="TextBox 8"/>
          <p:cNvSpPr txBox="1"/>
          <p:nvPr/>
        </p:nvSpPr>
        <p:spPr>
          <a:xfrm>
            <a:off x="731520" y="2423160"/>
            <a:ext cx="3200400" cy="731520"/>
          </a:xfrm>
          <a:prstGeom prst="rect">
            <a:avLst/>
          </a:prstGeom>
          <a:noFill/>
        </p:spPr>
        <p:txBody>
          <a:bodyPr wrap="square">
            <a:spAutoFit/>
          </a:bodyPr>
          <a:lstStyle/>
          <a:p>
            <a:pPr algn="ctr"/>
            <a:r>
              <a:rPr sz="1300" b="0" i="0">
                <a:solidFill>
                  <a:srgbClr val="6B7280"/>
                </a:solidFill>
                <a:latin typeface="Calibri"/>
              </a:rPr>
              <a:t>TRS Global moyen
(13 ressources)</a:t>
            </a:r>
          </a:p>
        </p:txBody>
      </p:sp>
      <p:sp>
        <p:nvSpPr>
          <p:cNvPr id="10" name="TextBox 9"/>
          <p:cNvSpPr txBox="1"/>
          <p:nvPr/>
        </p:nvSpPr>
        <p:spPr>
          <a:xfrm>
            <a:off x="3931920" y="1143000"/>
            <a:ext cx="3657600" cy="365760"/>
          </a:xfrm>
          <a:prstGeom prst="rect">
            <a:avLst/>
          </a:prstGeom>
          <a:noFill/>
        </p:spPr>
        <p:txBody>
          <a:bodyPr wrap="square">
            <a:spAutoFit/>
          </a:bodyPr>
          <a:lstStyle/>
          <a:p>
            <a:pPr algn="l"/>
            <a:r>
              <a:rPr sz="1300" b="1" i="0">
                <a:solidFill>
                  <a:srgbClr val="FFFFFF"/>
                </a:solidFill>
                <a:latin typeface="Calibri"/>
              </a:rPr>
              <a:t>Décomposition OEE</a:t>
            </a:r>
          </a:p>
        </p:txBody>
      </p:sp>
      <p:sp>
        <p:nvSpPr>
          <p:cNvPr id="11" name="Rectangle 10"/>
          <p:cNvSpPr/>
          <p:nvPr/>
        </p:nvSpPr>
        <p:spPr>
          <a:xfrm>
            <a:off x="3931920" y="1691640"/>
            <a:ext cx="5029200" cy="201168"/>
          </a:xfrm>
          <a:prstGeom prst="rect">
            <a:avLst/>
          </a:prstGeom>
          <a:solidFill>
            <a:srgbClr val="25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31920" y="1691640"/>
            <a:ext cx="643737" cy="201168"/>
          </a:xfrm>
          <a:prstGeom prst="rect">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463040"/>
            <a:ext cx="2286000" cy="228600"/>
          </a:xfrm>
          <a:prstGeom prst="rect">
            <a:avLst/>
          </a:prstGeom>
          <a:noFill/>
        </p:spPr>
        <p:txBody>
          <a:bodyPr wrap="square">
            <a:spAutoFit/>
          </a:bodyPr>
          <a:lstStyle/>
          <a:p>
            <a:pPr algn="l"/>
            <a:r>
              <a:rPr sz="1000" b="0" i="0">
                <a:solidFill>
                  <a:srgbClr val="FFFFFF"/>
                </a:solidFill>
                <a:latin typeface="Calibri"/>
              </a:rPr>
              <a:t>Disponibilité</a:t>
            </a:r>
          </a:p>
        </p:txBody>
      </p:sp>
      <p:sp>
        <p:nvSpPr>
          <p:cNvPr id="14" name="TextBox 13"/>
          <p:cNvSpPr txBox="1"/>
          <p:nvPr/>
        </p:nvSpPr>
        <p:spPr>
          <a:xfrm>
            <a:off x="7863840" y="1463040"/>
            <a:ext cx="1097280" cy="228600"/>
          </a:xfrm>
          <a:prstGeom prst="rect">
            <a:avLst/>
          </a:prstGeom>
          <a:noFill/>
        </p:spPr>
        <p:txBody>
          <a:bodyPr wrap="square">
            <a:spAutoFit/>
          </a:bodyPr>
          <a:lstStyle/>
          <a:p>
            <a:pPr algn="r"/>
            <a:r>
              <a:rPr sz="1000" b="1" i="0">
                <a:solidFill>
                  <a:srgbClr val="E85A14"/>
                </a:solidFill>
                <a:latin typeface="Calibri"/>
              </a:rPr>
              <a:t>12,8 %</a:t>
            </a:r>
          </a:p>
        </p:txBody>
      </p:sp>
      <p:sp>
        <p:nvSpPr>
          <p:cNvPr id="15" name="Rectangle 14"/>
          <p:cNvSpPr/>
          <p:nvPr/>
        </p:nvSpPr>
        <p:spPr>
          <a:xfrm>
            <a:off x="3931920" y="2697480"/>
            <a:ext cx="5029200" cy="201168"/>
          </a:xfrm>
          <a:prstGeom prst="rect">
            <a:avLst/>
          </a:prstGeom>
          <a:solidFill>
            <a:srgbClr val="25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31920" y="2697480"/>
            <a:ext cx="1790395" cy="2011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0" y="2468880"/>
            <a:ext cx="2286000" cy="228600"/>
          </a:xfrm>
          <a:prstGeom prst="rect">
            <a:avLst/>
          </a:prstGeom>
          <a:noFill/>
        </p:spPr>
        <p:txBody>
          <a:bodyPr wrap="square">
            <a:spAutoFit/>
          </a:bodyPr>
          <a:lstStyle/>
          <a:p>
            <a:pPr algn="l"/>
            <a:r>
              <a:rPr sz="1000" b="0" i="0">
                <a:solidFill>
                  <a:srgbClr val="FFFFFF"/>
                </a:solidFill>
                <a:latin typeface="Calibri"/>
              </a:rPr>
              <a:t>Performance</a:t>
            </a:r>
          </a:p>
        </p:txBody>
      </p:sp>
      <p:sp>
        <p:nvSpPr>
          <p:cNvPr id="18" name="TextBox 17"/>
          <p:cNvSpPr txBox="1"/>
          <p:nvPr/>
        </p:nvSpPr>
        <p:spPr>
          <a:xfrm>
            <a:off x="7863840" y="2468880"/>
            <a:ext cx="1097280" cy="228600"/>
          </a:xfrm>
          <a:prstGeom prst="rect">
            <a:avLst/>
          </a:prstGeom>
          <a:noFill/>
        </p:spPr>
        <p:txBody>
          <a:bodyPr wrap="square">
            <a:spAutoFit/>
          </a:bodyPr>
          <a:lstStyle/>
          <a:p>
            <a:pPr algn="r"/>
            <a:r>
              <a:rPr sz="1000" b="1" i="0">
                <a:solidFill>
                  <a:srgbClr val="3B82F6"/>
                </a:solidFill>
                <a:latin typeface="Calibri"/>
              </a:rPr>
              <a:t>35,6 %</a:t>
            </a:r>
          </a:p>
        </p:txBody>
      </p:sp>
      <p:sp>
        <p:nvSpPr>
          <p:cNvPr id="19" name="Rectangle 18"/>
          <p:cNvSpPr/>
          <p:nvPr/>
        </p:nvSpPr>
        <p:spPr>
          <a:xfrm>
            <a:off x="3931920" y="3703320"/>
            <a:ext cx="5029200" cy="201168"/>
          </a:xfrm>
          <a:prstGeom prst="rect">
            <a:avLst/>
          </a:prstGeom>
          <a:solidFill>
            <a:srgbClr val="25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31920" y="3703320"/>
            <a:ext cx="4918557" cy="2011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0" y="3474720"/>
            <a:ext cx="2286000" cy="228600"/>
          </a:xfrm>
          <a:prstGeom prst="rect">
            <a:avLst/>
          </a:prstGeom>
          <a:noFill/>
        </p:spPr>
        <p:txBody>
          <a:bodyPr wrap="square">
            <a:spAutoFit/>
          </a:bodyPr>
          <a:lstStyle/>
          <a:p>
            <a:pPr algn="l"/>
            <a:r>
              <a:rPr sz="1000" b="0" i="0">
                <a:solidFill>
                  <a:srgbClr val="FFFFFF"/>
                </a:solidFill>
                <a:latin typeface="Calibri"/>
              </a:rPr>
              <a:t>Qualité</a:t>
            </a:r>
          </a:p>
        </p:txBody>
      </p:sp>
      <p:sp>
        <p:nvSpPr>
          <p:cNvPr id="22" name="TextBox 21"/>
          <p:cNvSpPr txBox="1"/>
          <p:nvPr/>
        </p:nvSpPr>
        <p:spPr>
          <a:xfrm>
            <a:off x="7863840" y="3474720"/>
            <a:ext cx="1097280" cy="228600"/>
          </a:xfrm>
          <a:prstGeom prst="rect">
            <a:avLst/>
          </a:prstGeom>
          <a:noFill/>
        </p:spPr>
        <p:txBody>
          <a:bodyPr wrap="square">
            <a:spAutoFit/>
          </a:bodyPr>
          <a:lstStyle/>
          <a:p>
            <a:pPr algn="r"/>
            <a:r>
              <a:rPr sz="1000" b="1" i="0">
                <a:solidFill>
                  <a:srgbClr val="10B981"/>
                </a:solidFill>
                <a:latin typeface="Calibri"/>
              </a:rPr>
              <a:t>97,8 %</a:t>
            </a:r>
          </a:p>
        </p:txBody>
      </p:sp>
      <p:sp>
        <p:nvSpPr>
          <p:cNvPr id="23" name="Rectangle 22"/>
          <p:cNvSpPr/>
          <p:nvPr/>
        </p:nvSpPr>
        <p:spPr>
          <a:xfrm>
            <a:off x="3931920" y="4709160"/>
            <a:ext cx="5029200" cy="201168"/>
          </a:xfrm>
          <a:prstGeom prst="rect">
            <a:avLst/>
          </a:prstGeom>
          <a:solidFill>
            <a:srgbClr val="25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31920" y="4709160"/>
            <a:ext cx="271576" cy="20116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0" y="4480560"/>
            <a:ext cx="2286000" cy="228600"/>
          </a:xfrm>
          <a:prstGeom prst="rect">
            <a:avLst/>
          </a:prstGeom>
          <a:noFill/>
        </p:spPr>
        <p:txBody>
          <a:bodyPr wrap="square">
            <a:spAutoFit/>
          </a:bodyPr>
          <a:lstStyle/>
          <a:p>
            <a:pPr algn="l"/>
            <a:r>
              <a:rPr sz="1000" b="0" i="0">
                <a:solidFill>
                  <a:srgbClr val="FFFFFF"/>
                </a:solidFill>
                <a:latin typeface="Calibri"/>
              </a:rPr>
              <a:t>TRS global</a:t>
            </a:r>
          </a:p>
        </p:txBody>
      </p:sp>
      <p:sp>
        <p:nvSpPr>
          <p:cNvPr id="26" name="TextBox 25"/>
          <p:cNvSpPr txBox="1"/>
          <p:nvPr/>
        </p:nvSpPr>
        <p:spPr>
          <a:xfrm>
            <a:off x="7863840" y="4480560"/>
            <a:ext cx="1097280" cy="228600"/>
          </a:xfrm>
          <a:prstGeom prst="rect">
            <a:avLst/>
          </a:prstGeom>
          <a:noFill/>
        </p:spPr>
        <p:txBody>
          <a:bodyPr wrap="square">
            <a:spAutoFit/>
          </a:bodyPr>
          <a:lstStyle/>
          <a:p>
            <a:pPr algn="r"/>
            <a:r>
              <a:rPr sz="1000" b="1" i="0">
                <a:solidFill>
                  <a:srgbClr val="EF4444"/>
                </a:solidFill>
                <a:latin typeface="Calibri"/>
              </a:rPr>
              <a:t>5,4 %</a:t>
            </a:r>
          </a:p>
        </p:txBody>
      </p:sp>
      <p:sp>
        <p:nvSpPr>
          <p:cNvPr id="27" name="Rectangle 26"/>
          <p:cNvSpPr/>
          <p:nvPr/>
        </p:nvSpPr>
        <p:spPr>
          <a:xfrm>
            <a:off x="685800" y="4526280"/>
            <a:ext cx="10515600" cy="1737360"/>
          </a:xfrm>
          <a:prstGeom prst="rect">
            <a:avLst/>
          </a:prstGeom>
          <a:solidFill>
            <a:srgbClr val="1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617720"/>
            <a:ext cx="10149840" cy="1554480"/>
          </a:xfrm>
          <a:prstGeom prst="rect">
            <a:avLst/>
          </a:prstGeom>
          <a:noFill/>
        </p:spPr>
        <p:txBody>
          <a:bodyPr wrap="square">
            <a:spAutoFit/>
          </a:bodyPr>
          <a:lstStyle/>
          <a:p>
            <a:pPr algn="l"/>
            <a:r>
              <a:rPr sz="1100" b="1">
                <a:solidFill>
                  <a:srgbClr val="FFFFFF"/>
                </a:solidFill>
                <a:latin typeface="Calibri"/>
              </a:rPr>
              <a:t>Interprétation :</a:t>
            </a:r>
          </a:p>
          <a:p>
            <a:pPr algn="l"/>
            <a:r>
              <a:rPr sz="1000" b="0">
                <a:solidFill>
                  <a:srgbClr val="FFFFFF"/>
                </a:solidFill>
                <a:latin typeface="Calibri"/>
              </a:rPr>
              <a:t>La qualité à 97,8 % montre que les machines produisent bien quand elles tournent.</a:t>
            </a:r>
          </a:p>
          <a:p>
            <a:pPr algn="l"/>
            <a:r>
              <a:rPr sz="1000" b="0">
                <a:solidFill>
                  <a:srgbClr val="FFFFFF"/>
                </a:solidFill>
                <a:latin typeface="Calibri"/>
              </a:rPr>
              <a:t>La disponibilité à 12,8 % révèle que les machines sont arrêtées la plupart du temps → données sur 3 ans incluant arrêts programmés.</a:t>
            </a:r>
          </a:p>
          <a:p>
            <a:pPr algn="l"/>
            <a:r>
              <a:rPr sz="1000" b="0">
                <a:solidFill>
                  <a:srgbClr val="FFFFFF"/>
                </a:solidFill>
                <a:latin typeface="Calibri"/>
              </a:rPr>
              <a:t>La performance à 35,6 % indique que quand les machines tournent, elles ne sont pas toujours au rythme nominal.</a:t>
            </a:r>
          </a:p>
          <a:p>
            <a:pPr algn="l"/>
            <a:r>
              <a:rPr sz="1000" b="1">
                <a:solidFill>
                  <a:srgbClr val="FFFFFF"/>
                </a:solidFill>
                <a:latin typeface="Calibri"/>
              </a:rPr>
              <a:t>→  Axe d'amélioration prioritaire : augmenter la disponibilité (maintenance préventive, réduction des temps de setup).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7" name="TextBox 6"/>
          <p:cNvSpPr txBox="1"/>
          <p:nvPr/>
        </p:nvSpPr>
        <p:spPr>
          <a:xfrm>
            <a:off x="731520" y="201168"/>
            <a:ext cx="9601200" cy="640080"/>
          </a:xfrm>
          <a:prstGeom prst="rect">
            <a:avLst/>
          </a:prstGeom>
          <a:noFill/>
        </p:spPr>
        <p:txBody>
          <a:bodyPr wrap="square">
            <a:spAutoFit/>
          </a:bodyPr>
          <a:lstStyle/>
          <a:p>
            <a:pPr algn="l"/>
            <a:r>
              <a:rPr sz="2200" b="1" i="0">
                <a:solidFill>
                  <a:srgbClr val="FFFFFF"/>
                </a:solidFill>
                <a:latin typeface="Calibri"/>
              </a:rPr>
              <a:t>03  Résultat n°2 – Qualité &amp; capteurs physiques</a:t>
            </a:r>
          </a:p>
        </p:txBody>
      </p:sp>
      <p:sp>
        <p:nvSpPr>
          <p:cNvPr id="8" name="Rectangle 7"/>
          <p:cNvSpPr/>
          <p:nvPr/>
        </p:nvSpPr>
        <p:spPr>
          <a:xfrm>
            <a:off x="731520" y="1188720"/>
            <a:ext cx="2560320" cy="1188720"/>
          </a:xfrm>
          <a:prstGeom prst="rect">
            <a:avLst/>
          </a:prstGeom>
          <a:solidFill>
            <a:srgbClr val="1A203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261872"/>
            <a:ext cx="2286000" cy="548640"/>
          </a:xfrm>
          <a:prstGeom prst="rect">
            <a:avLst/>
          </a:prstGeom>
          <a:noFill/>
        </p:spPr>
        <p:txBody>
          <a:bodyPr wrap="square">
            <a:spAutoFit/>
          </a:bodyPr>
          <a:lstStyle/>
          <a:p>
            <a:pPr algn="ctr"/>
            <a:r>
              <a:rPr sz="2800" b="1" i="0">
                <a:solidFill>
                  <a:srgbClr val="10B981"/>
                </a:solidFill>
                <a:latin typeface="Calibri"/>
              </a:rPr>
              <a:t>85,9 %</a:t>
            </a:r>
          </a:p>
        </p:txBody>
      </p:sp>
      <p:sp>
        <p:nvSpPr>
          <p:cNvPr id="10" name="TextBox 9"/>
          <p:cNvSpPr txBox="1"/>
          <p:nvPr/>
        </p:nvSpPr>
        <p:spPr>
          <a:xfrm>
            <a:off x="822960" y="1755648"/>
            <a:ext cx="2377440" cy="320040"/>
          </a:xfrm>
          <a:prstGeom prst="rect">
            <a:avLst/>
          </a:prstGeom>
          <a:noFill/>
        </p:spPr>
        <p:txBody>
          <a:bodyPr wrap="square">
            <a:spAutoFit/>
          </a:bodyPr>
          <a:lstStyle/>
          <a:p>
            <a:pPr algn="ctr"/>
            <a:r>
              <a:rPr sz="1000" b="0" i="0">
                <a:solidFill>
                  <a:srgbClr val="FFFFFF"/>
                </a:solidFill>
                <a:latin typeface="Calibri"/>
              </a:rPr>
              <a:t>First Pass Yield</a:t>
            </a:r>
          </a:p>
        </p:txBody>
      </p:sp>
      <p:sp>
        <p:nvSpPr>
          <p:cNvPr id="11" name="TextBox 10"/>
          <p:cNvSpPr txBox="1"/>
          <p:nvPr/>
        </p:nvSpPr>
        <p:spPr>
          <a:xfrm>
            <a:off x="822960" y="2029968"/>
            <a:ext cx="2377440" cy="228600"/>
          </a:xfrm>
          <a:prstGeom prst="rect">
            <a:avLst/>
          </a:prstGeom>
          <a:noFill/>
        </p:spPr>
        <p:txBody>
          <a:bodyPr wrap="square">
            <a:spAutoFit/>
          </a:bodyPr>
          <a:lstStyle/>
          <a:p>
            <a:pPr algn="ctr"/>
            <a:r>
              <a:rPr sz="800" b="0" i="0">
                <a:solidFill>
                  <a:srgbClr val="6B7280"/>
                </a:solidFill>
                <a:latin typeface="Calibri"/>
              </a:rPr>
              <a:t>189 / 220 OF sans erreur</a:t>
            </a:r>
          </a:p>
        </p:txBody>
      </p:sp>
      <p:sp>
        <p:nvSpPr>
          <p:cNvPr id="12" name="Rectangle 11"/>
          <p:cNvSpPr/>
          <p:nvPr/>
        </p:nvSpPr>
        <p:spPr>
          <a:xfrm>
            <a:off x="3474720" y="1188720"/>
            <a:ext cx="2560320" cy="1188720"/>
          </a:xfrm>
          <a:prstGeom prst="rect">
            <a:avLst/>
          </a:prstGeom>
          <a:solidFill>
            <a:srgbClr val="1A2035"/>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261872"/>
            <a:ext cx="2286000" cy="548640"/>
          </a:xfrm>
          <a:prstGeom prst="rect">
            <a:avLst/>
          </a:prstGeom>
          <a:noFill/>
        </p:spPr>
        <p:txBody>
          <a:bodyPr wrap="square">
            <a:spAutoFit/>
          </a:bodyPr>
          <a:lstStyle/>
          <a:p>
            <a:pPr algn="ctr"/>
            <a:r>
              <a:rPr sz="2800" b="1" i="0">
                <a:solidFill>
                  <a:srgbClr val="F59E0B"/>
                </a:solidFill>
                <a:latin typeface="Calibri"/>
              </a:rPr>
              <a:t>63</a:t>
            </a:r>
          </a:p>
        </p:txBody>
      </p:sp>
      <p:sp>
        <p:nvSpPr>
          <p:cNvPr id="14" name="TextBox 13"/>
          <p:cNvSpPr txBox="1"/>
          <p:nvPr/>
        </p:nvSpPr>
        <p:spPr>
          <a:xfrm>
            <a:off x="3566160" y="1755648"/>
            <a:ext cx="2377440" cy="320040"/>
          </a:xfrm>
          <a:prstGeom prst="rect">
            <a:avLst/>
          </a:prstGeom>
          <a:noFill/>
        </p:spPr>
        <p:txBody>
          <a:bodyPr wrap="square">
            <a:spAutoFit/>
          </a:bodyPr>
          <a:lstStyle/>
          <a:p>
            <a:pPr algn="ctr"/>
            <a:r>
              <a:rPr sz="1000" b="0" i="0">
                <a:solidFill>
                  <a:srgbClr val="FFFFFF"/>
                </a:solidFill>
                <a:latin typeface="Calibri"/>
              </a:rPr>
              <a:t>Erreurs détectées</a:t>
            </a:r>
          </a:p>
        </p:txBody>
      </p:sp>
      <p:sp>
        <p:nvSpPr>
          <p:cNvPr id="15" name="TextBox 14"/>
          <p:cNvSpPr txBox="1"/>
          <p:nvPr/>
        </p:nvSpPr>
        <p:spPr>
          <a:xfrm>
            <a:off x="3566160" y="2029968"/>
            <a:ext cx="2377440" cy="228600"/>
          </a:xfrm>
          <a:prstGeom prst="rect">
            <a:avLst/>
          </a:prstGeom>
          <a:noFill/>
        </p:spPr>
        <p:txBody>
          <a:bodyPr wrap="square">
            <a:spAutoFit/>
          </a:bodyPr>
          <a:lstStyle/>
          <a:p>
            <a:pPr algn="ctr"/>
            <a:r>
              <a:rPr sz="800" b="0" i="0">
                <a:solidFill>
                  <a:srgbClr val="6B7280"/>
                </a:solidFill>
                <a:latin typeface="Calibri"/>
              </a:rPr>
              <a:t>sur 1 669 étapes</a:t>
            </a:r>
          </a:p>
        </p:txBody>
      </p:sp>
      <p:sp>
        <p:nvSpPr>
          <p:cNvPr id="16" name="Rectangle 15"/>
          <p:cNvSpPr/>
          <p:nvPr/>
        </p:nvSpPr>
        <p:spPr>
          <a:xfrm>
            <a:off x="6217920" y="1188720"/>
            <a:ext cx="2560320" cy="1188720"/>
          </a:xfrm>
          <a:prstGeom prst="rect">
            <a:avLst/>
          </a:prstGeom>
          <a:solidFill>
            <a:srgbClr val="1A2035"/>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261872"/>
            <a:ext cx="2286000" cy="548640"/>
          </a:xfrm>
          <a:prstGeom prst="rect">
            <a:avLst/>
          </a:prstGeom>
          <a:noFill/>
        </p:spPr>
        <p:txBody>
          <a:bodyPr wrap="square">
            <a:spAutoFit/>
          </a:bodyPr>
          <a:lstStyle/>
          <a:p>
            <a:pPr algn="ctr"/>
            <a:r>
              <a:rPr sz="2800" b="1" i="0">
                <a:solidFill>
                  <a:srgbClr val="3B82F6"/>
                </a:solidFill>
                <a:latin typeface="Calibri"/>
              </a:rPr>
              <a:t>31,3 %</a:t>
            </a:r>
          </a:p>
        </p:txBody>
      </p:sp>
      <p:sp>
        <p:nvSpPr>
          <p:cNvPr id="18" name="TextBox 17"/>
          <p:cNvSpPr txBox="1"/>
          <p:nvPr/>
        </p:nvSpPr>
        <p:spPr>
          <a:xfrm>
            <a:off x="6309360" y="1755648"/>
            <a:ext cx="2377440" cy="320040"/>
          </a:xfrm>
          <a:prstGeom prst="rect">
            <a:avLst/>
          </a:prstGeom>
          <a:noFill/>
        </p:spPr>
        <p:txBody>
          <a:bodyPr wrap="square">
            <a:spAutoFit/>
          </a:bodyPr>
          <a:lstStyle/>
          <a:p>
            <a:pPr algn="ctr"/>
            <a:r>
              <a:rPr sz="1000" b="0" i="0">
                <a:solidFill>
                  <a:srgbClr val="FFFFFF"/>
                </a:solidFill>
                <a:latin typeface="Calibri"/>
              </a:rPr>
              <a:t>Remplissage buffers</a:t>
            </a:r>
          </a:p>
        </p:txBody>
      </p:sp>
      <p:sp>
        <p:nvSpPr>
          <p:cNvPr id="19" name="TextBox 18"/>
          <p:cNvSpPr txBox="1"/>
          <p:nvPr/>
        </p:nvSpPr>
        <p:spPr>
          <a:xfrm>
            <a:off x="6309360" y="2029968"/>
            <a:ext cx="2377440" cy="228600"/>
          </a:xfrm>
          <a:prstGeom prst="rect">
            <a:avLst/>
          </a:prstGeom>
          <a:noFill/>
        </p:spPr>
        <p:txBody>
          <a:bodyPr wrap="square">
            <a:spAutoFit/>
          </a:bodyPr>
          <a:lstStyle/>
          <a:p>
            <a:pPr algn="ctr"/>
            <a:r>
              <a:rPr sz="800" b="0" i="0">
                <a:solidFill>
                  <a:srgbClr val="6B7280"/>
                </a:solidFill>
                <a:latin typeface="Calibri"/>
              </a:rPr>
              <a:t>7 buffers surveillés</a:t>
            </a:r>
          </a:p>
        </p:txBody>
      </p:sp>
      <p:sp>
        <p:nvSpPr>
          <p:cNvPr id="20" name="Rectangle 19"/>
          <p:cNvSpPr/>
          <p:nvPr/>
        </p:nvSpPr>
        <p:spPr>
          <a:xfrm>
            <a:off x="8961120" y="1188720"/>
            <a:ext cx="2560320" cy="1188720"/>
          </a:xfrm>
          <a:prstGeom prst="rect">
            <a:avLst/>
          </a:prstGeom>
          <a:solidFill>
            <a:srgbClr val="1A2035"/>
          </a:solidFill>
          <a:ln w="25400">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261872"/>
            <a:ext cx="2286000" cy="548640"/>
          </a:xfrm>
          <a:prstGeom prst="rect">
            <a:avLst/>
          </a:prstGeom>
          <a:noFill/>
        </p:spPr>
        <p:txBody>
          <a:bodyPr wrap="square">
            <a:spAutoFit/>
          </a:bodyPr>
          <a:lstStyle/>
          <a:p>
            <a:pPr algn="ctr"/>
            <a:r>
              <a:rPr sz="2800" b="1" i="0">
                <a:solidFill>
                  <a:srgbClr val="E85A14"/>
                </a:solidFill>
                <a:latin typeface="Calibri"/>
              </a:rPr>
              <a:t>11</a:t>
            </a:r>
          </a:p>
        </p:txBody>
      </p:sp>
      <p:sp>
        <p:nvSpPr>
          <p:cNvPr id="22" name="TextBox 21"/>
          <p:cNvSpPr txBox="1"/>
          <p:nvPr/>
        </p:nvSpPr>
        <p:spPr>
          <a:xfrm>
            <a:off x="9052560" y="1755648"/>
            <a:ext cx="2377440" cy="320040"/>
          </a:xfrm>
          <a:prstGeom prst="rect">
            <a:avLst/>
          </a:prstGeom>
          <a:noFill/>
        </p:spPr>
        <p:txBody>
          <a:bodyPr wrap="square">
            <a:spAutoFit/>
          </a:bodyPr>
          <a:lstStyle/>
          <a:p>
            <a:pPr algn="ctr"/>
            <a:r>
              <a:rPr sz="1000" b="0" i="0">
                <a:solidFill>
                  <a:srgbClr val="FFFFFF"/>
                </a:solidFill>
                <a:latin typeface="Calibri"/>
              </a:rPr>
              <a:t>Produits en cours</a:t>
            </a:r>
          </a:p>
        </p:txBody>
      </p:sp>
      <p:sp>
        <p:nvSpPr>
          <p:cNvPr id="23" name="TextBox 22"/>
          <p:cNvSpPr txBox="1"/>
          <p:nvPr/>
        </p:nvSpPr>
        <p:spPr>
          <a:xfrm>
            <a:off x="9052560" y="2029968"/>
            <a:ext cx="2377440" cy="228600"/>
          </a:xfrm>
          <a:prstGeom prst="rect">
            <a:avLst/>
          </a:prstGeom>
          <a:noFill/>
        </p:spPr>
        <p:txBody>
          <a:bodyPr wrap="square">
            <a:spAutoFit/>
          </a:bodyPr>
          <a:lstStyle/>
          <a:p>
            <a:pPr algn="ctr"/>
            <a:r>
              <a:rPr sz="800" b="0" i="0">
                <a:solidFill>
                  <a:srgbClr val="6B7280"/>
                </a:solidFill>
                <a:latin typeface="Calibri"/>
              </a:rPr>
              <a:t>6 ordres actifs</a:t>
            </a:r>
          </a:p>
        </p:txBody>
      </p:sp>
      <p:sp>
        <p:nvSpPr>
          <p:cNvPr id="24" name="TextBox 23"/>
          <p:cNvSpPr txBox="1"/>
          <p:nvPr/>
        </p:nvSpPr>
        <p:spPr>
          <a:xfrm>
            <a:off x="731520" y="2606040"/>
            <a:ext cx="5486400" cy="411480"/>
          </a:xfrm>
          <a:prstGeom prst="rect">
            <a:avLst/>
          </a:prstGeom>
          <a:noFill/>
        </p:spPr>
        <p:txBody>
          <a:bodyPr wrap="square">
            <a:spAutoFit/>
          </a:bodyPr>
          <a:lstStyle/>
          <a:p>
            <a:pPr algn="l"/>
            <a:r>
              <a:rPr sz="1400" b="1" i="0">
                <a:solidFill>
                  <a:srgbClr val="10B981"/>
                </a:solidFill>
                <a:latin typeface="Calibri"/>
              </a:rPr>
              <a:t>Apport des capteurs physiques CSV</a:t>
            </a:r>
          </a:p>
        </p:txBody>
      </p:sp>
      <p:sp>
        <p:nvSpPr>
          <p:cNvPr id="25" name="Rectangle 24"/>
          <p:cNvSpPr/>
          <p:nvPr/>
        </p:nvSpPr>
        <p:spPr>
          <a:xfrm>
            <a:off x="731520" y="3063240"/>
            <a:ext cx="5303520" cy="3108960"/>
          </a:xfrm>
          <a:prstGeom prst="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200400"/>
            <a:ext cx="1828800" cy="320040"/>
          </a:xfrm>
          <a:prstGeom prst="rect">
            <a:avLst/>
          </a:prstGeom>
          <a:noFill/>
        </p:spPr>
        <p:txBody>
          <a:bodyPr wrap="square">
            <a:spAutoFit/>
          </a:bodyPr>
          <a:lstStyle/>
          <a:p>
            <a:pPr algn="l"/>
            <a:r>
              <a:rPr sz="1100" b="1" i="0">
                <a:solidFill>
                  <a:srgbClr val="10B981"/>
                </a:solidFill>
                <a:latin typeface="Calibri"/>
              </a:rPr>
              <a:t>data_all.csv</a:t>
            </a:r>
          </a:p>
        </p:txBody>
      </p:sp>
      <p:sp>
        <p:nvSpPr>
          <p:cNvPr id="27" name="TextBox 26"/>
          <p:cNvSpPr txBox="1"/>
          <p:nvPr/>
        </p:nvSpPr>
        <p:spPr>
          <a:xfrm>
            <a:off x="868680" y="3520440"/>
            <a:ext cx="1828800" cy="274320"/>
          </a:xfrm>
          <a:prstGeom prst="rect">
            <a:avLst/>
          </a:prstGeom>
          <a:noFill/>
        </p:spPr>
        <p:txBody>
          <a:bodyPr wrap="square">
            <a:spAutoFit/>
          </a:bodyPr>
          <a:lstStyle/>
          <a:p>
            <a:pPr algn="l"/>
            <a:r>
              <a:rPr sz="1000" b="0" i="0">
                <a:solidFill>
                  <a:srgbClr val="F59E0B"/>
                </a:solidFill>
                <a:latin typeface="Calibri"/>
              </a:rPr>
              <a:t>3 569 points</a:t>
            </a:r>
          </a:p>
        </p:txBody>
      </p:sp>
      <p:sp>
        <p:nvSpPr>
          <p:cNvPr id="28" name="TextBox 27"/>
          <p:cNvSpPr txBox="1"/>
          <p:nvPr/>
        </p:nvSpPr>
        <p:spPr>
          <a:xfrm>
            <a:off x="868680" y="3794760"/>
            <a:ext cx="5029200" cy="640080"/>
          </a:xfrm>
          <a:prstGeom prst="rect">
            <a:avLst/>
          </a:prstGeom>
          <a:noFill/>
        </p:spPr>
        <p:txBody>
          <a:bodyPr wrap="square">
            <a:spAutoFit/>
          </a:bodyPr>
          <a:lstStyle/>
          <a:p>
            <a:pPr algn="l"/>
            <a:r>
              <a:rPr sz="900" b="0" i="0">
                <a:solidFill>
                  <a:srgbClr val="FFFFFF"/>
                </a:solidFill>
                <a:latin typeface="Calibri"/>
              </a:rPr>
              <a:t>Puissance L1/L2/L3, pression (1,25 bar moy.), débit (0,034 l/min moy.)</a:t>
            </a:r>
          </a:p>
        </p:txBody>
      </p:sp>
      <p:sp>
        <p:nvSpPr>
          <p:cNvPr id="29" name="TextBox 28"/>
          <p:cNvSpPr txBox="1"/>
          <p:nvPr/>
        </p:nvSpPr>
        <p:spPr>
          <a:xfrm>
            <a:off x="868680" y="4572000"/>
            <a:ext cx="1828800" cy="320040"/>
          </a:xfrm>
          <a:prstGeom prst="rect">
            <a:avLst/>
          </a:prstGeom>
          <a:noFill/>
        </p:spPr>
        <p:txBody>
          <a:bodyPr wrap="square">
            <a:spAutoFit/>
          </a:bodyPr>
          <a:lstStyle/>
          <a:p>
            <a:pPr algn="l"/>
            <a:r>
              <a:rPr sz="1100" b="1" i="0">
                <a:solidFill>
                  <a:srgbClr val="10B981"/>
                </a:solidFill>
                <a:latin typeface="Calibri"/>
              </a:rPr>
              <a:t>dataEnergy.csv</a:t>
            </a:r>
          </a:p>
        </p:txBody>
      </p:sp>
      <p:sp>
        <p:nvSpPr>
          <p:cNvPr id="30" name="TextBox 29"/>
          <p:cNvSpPr txBox="1"/>
          <p:nvPr/>
        </p:nvSpPr>
        <p:spPr>
          <a:xfrm>
            <a:off x="868680" y="4892040"/>
            <a:ext cx="1828800" cy="274320"/>
          </a:xfrm>
          <a:prstGeom prst="rect">
            <a:avLst/>
          </a:prstGeom>
          <a:noFill/>
        </p:spPr>
        <p:txBody>
          <a:bodyPr wrap="square">
            <a:spAutoFit/>
          </a:bodyPr>
          <a:lstStyle/>
          <a:p>
            <a:pPr algn="l"/>
            <a:r>
              <a:rPr sz="1000" b="0" i="0">
                <a:solidFill>
                  <a:srgbClr val="F59E0B"/>
                </a:solidFill>
                <a:latin typeface="Calibri"/>
              </a:rPr>
              <a:t>177 290 points</a:t>
            </a:r>
          </a:p>
        </p:txBody>
      </p:sp>
      <p:sp>
        <p:nvSpPr>
          <p:cNvPr id="31" name="TextBox 30"/>
          <p:cNvSpPr txBox="1"/>
          <p:nvPr/>
        </p:nvSpPr>
        <p:spPr>
          <a:xfrm>
            <a:off x="868680" y="5166360"/>
            <a:ext cx="5029200" cy="640080"/>
          </a:xfrm>
          <a:prstGeom prst="rect">
            <a:avLst/>
          </a:prstGeom>
          <a:noFill/>
        </p:spPr>
        <p:txBody>
          <a:bodyPr wrap="square">
            <a:spAutoFit/>
          </a:bodyPr>
          <a:lstStyle/>
          <a:p>
            <a:pPr algn="l"/>
            <a:r>
              <a:rPr sz="900" b="0" i="0">
                <a:solidFill>
                  <a:srgbClr val="FFFFFF"/>
                </a:solidFill>
                <a:latin typeface="Calibri"/>
              </a:rPr>
              <a:t>Série longue durée – puissance par phase L1/L2/L3</a:t>
            </a:r>
          </a:p>
        </p:txBody>
      </p:sp>
      <p:sp>
        <p:nvSpPr>
          <p:cNvPr id="32" name="TextBox 31"/>
          <p:cNvSpPr txBox="1"/>
          <p:nvPr/>
        </p:nvSpPr>
        <p:spPr>
          <a:xfrm>
            <a:off x="6400800" y="2606040"/>
            <a:ext cx="5303520" cy="411480"/>
          </a:xfrm>
          <a:prstGeom prst="rect">
            <a:avLst/>
          </a:prstGeom>
          <a:noFill/>
        </p:spPr>
        <p:txBody>
          <a:bodyPr wrap="square">
            <a:spAutoFit/>
          </a:bodyPr>
          <a:lstStyle/>
          <a:p>
            <a:pPr algn="l"/>
            <a:r>
              <a:rPr sz="1400" b="1" i="0">
                <a:solidFill>
                  <a:srgbClr val="3B82F6"/>
                </a:solidFill>
                <a:latin typeface="Calibri"/>
              </a:rPr>
              <a:t>Valeur ajoutée vs MES seul</a:t>
            </a:r>
          </a:p>
        </p:txBody>
      </p:sp>
      <p:sp>
        <p:nvSpPr>
          <p:cNvPr id="33" name="Rectangle 32"/>
          <p:cNvSpPr/>
          <p:nvPr/>
        </p:nvSpPr>
        <p:spPr>
          <a:xfrm>
            <a:off x="6400800" y="3063240"/>
            <a:ext cx="5303520" cy="3108960"/>
          </a:xfrm>
          <a:prstGeom prst="rect">
            <a:avLst/>
          </a:prstGeom>
          <a:solidFill>
            <a:srgbClr val="1A20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3200400"/>
            <a:ext cx="4937760" cy="685800"/>
          </a:xfrm>
          <a:prstGeom prst="rect">
            <a:avLst/>
          </a:prstGeom>
          <a:noFill/>
        </p:spPr>
        <p:txBody>
          <a:bodyPr wrap="square">
            <a:spAutoFit/>
          </a:bodyPr>
          <a:lstStyle/>
          <a:p>
            <a:pPr algn="l"/>
            <a:r>
              <a:rPr sz="1000" b="0" i="0">
                <a:solidFill>
                  <a:srgbClr val="FFFFFF"/>
                </a:solidFill>
                <a:latin typeface="Calibri"/>
              </a:rPr>
              <a:t>Le MES donne la vision PROCESSUS
(OF, étapes, ressources)</a:t>
            </a:r>
          </a:p>
        </p:txBody>
      </p:sp>
      <p:sp>
        <p:nvSpPr>
          <p:cNvPr id="35" name="TextBox 34"/>
          <p:cNvSpPr txBox="1"/>
          <p:nvPr/>
        </p:nvSpPr>
        <p:spPr>
          <a:xfrm>
            <a:off x="6583680" y="3950208"/>
            <a:ext cx="4937760" cy="685800"/>
          </a:xfrm>
          <a:prstGeom prst="rect">
            <a:avLst/>
          </a:prstGeom>
          <a:noFill/>
        </p:spPr>
        <p:txBody>
          <a:bodyPr wrap="square">
            <a:spAutoFit/>
          </a:bodyPr>
          <a:lstStyle/>
          <a:p>
            <a:pPr algn="l"/>
            <a:r>
              <a:rPr sz="1000" b="0" i="0">
                <a:solidFill>
                  <a:srgbClr val="FFFFFF"/>
                </a:solidFill>
                <a:latin typeface="Calibri"/>
              </a:rPr>
              <a:t>Les capteurs donnent la vision PHYSIQUE
(courant, tension, pression air)</a:t>
            </a:r>
          </a:p>
        </p:txBody>
      </p:sp>
      <p:sp>
        <p:nvSpPr>
          <p:cNvPr id="36" name="TextBox 35"/>
          <p:cNvSpPr txBox="1"/>
          <p:nvPr/>
        </p:nvSpPr>
        <p:spPr>
          <a:xfrm>
            <a:off x="6583680" y="4700016"/>
            <a:ext cx="4937760" cy="685800"/>
          </a:xfrm>
          <a:prstGeom prst="rect">
            <a:avLst/>
          </a:prstGeom>
          <a:noFill/>
        </p:spPr>
        <p:txBody>
          <a:bodyPr wrap="square">
            <a:spAutoFit/>
          </a:bodyPr>
          <a:lstStyle/>
          <a:p>
            <a:pPr algn="l"/>
            <a:r>
              <a:rPr sz="1000" b="0" i="0">
                <a:solidFill>
                  <a:srgbClr val="FFFFFF"/>
                </a:solidFill>
                <a:latin typeface="Calibri"/>
              </a:rPr>
              <a:t>→  Corrélation possible entre un arrêt
    machine (MES) et un pic de puissance
    (CSV)</a:t>
            </a:r>
          </a:p>
        </p:txBody>
      </p:sp>
      <p:sp>
        <p:nvSpPr>
          <p:cNvPr id="37" name="TextBox 36"/>
          <p:cNvSpPr txBox="1"/>
          <p:nvPr/>
        </p:nvSpPr>
        <p:spPr>
          <a:xfrm>
            <a:off x="6583680" y="5449824"/>
            <a:ext cx="4937760" cy="685800"/>
          </a:xfrm>
          <a:prstGeom prst="rect">
            <a:avLst/>
          </a:prstGeom>
          <a:noFill/>
        </p:spPr>
        <p:txBody>
          <a:bodyPr wrap="square">
            <a:spAutoFit/>
          </a:bodyPr>
          <a:lstStyle/>
          <a:p>
            <a:pPr algn="l"/>
            <a:r>
              <a:rPr sz="1000" b="0" i="0">
                <a:solidFill>
                  <a:srgbClr val="FFFFFF"/>
                </a:solidFill>
                <a:latin typeface="Calibri"/>
              </a:rPr>
              <a:t>→  Détection de dérives énergétiques
    progressives non visibles dans le 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097280"/>
          </a:xfrm>
          <a:prstGeom prst="rect">
            <a:avLst/>
          </a:prstGeom>
          <a:solidFill>
            <a:srgbClr val="1A2035"/>
          </a:solidFill>
          <a:ln>
            <a:solidFill>
              <a:srgbClr val="1A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8128" y="201168"/>
            <a:ext cx="179222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telefan.png"/>
          <p:cNvPicPr>
            <a:picLocks noChangeAspect="1"/>
          </p:cNvPicPr>
          <p:nvPr/>
        </p:nvPicPr>
        <p:blipFill>
          <a:blip r:embed="rId2"/>
          <a:stretch>
            <a:fillRect/>
          </a:stretch>
        </p:blipFill>
        <p:spPr>
          <a:xfrm>
            <a:off x="10241280" y="256032"/>
            <a:ext cx="1645920" cy="683551"/>
          </a:xfrm>
          <a:prstGeom prst="rect">
            <a:avLst/>
          </a:prstGeom>
        </p:spPr>
      </p:pic>
      <p:sp>
        <p:nvSpPr>
          <p:cNvPr id="7" name="TextBox 6"/>
          <p:cNvSpPr txBox="1"/>
          <p:nvPr/>
        </p:nvSpPr>
        <p:spPr>
          <a:xfrm>
            <a:off x="731520" y="201168"/>
            <a:ext cx="9601200" cy="640080"/>
          </a:xfrm>
          <a:prstGeom prst="rect">
            <a:avLst/>
          </a:prstGeom>
          <a:noFill/>
        </p:spPr>
        <p:txBody>
          <a:bodyPr wrap="square">
            <a:spAutoFit/>
          </a:bodyPr>
          <a:lstStyle/>
          <a:p>
            <a:pPr algn="l"/>
            <a:r>
              <a:rPr sz="2600" b="1" i="0">
                <a:solidFill>
                  <a:srgbClr val="FFFFFF"/>
                </a:solidFill>
                <a:latin typeface="Calibri"/>
              </a:rPr>
              <a:t>04  Ce que ce projet nous a appris</a:t>
            </a:r>
          </a:p>
        </p:txBody>
      </p:sp>
      <p:sp>
        <p:nvSpPr>
          <p:cNvPr id="8" name="Rectangle 7"/>
          <p:cNvSpPr/>
          <p:nvPr/>
        </p:nvSpPr>
        <p:spPr>
          <a:xfrm>
            <a:off x="685800" y="1188720"/>
            <a:ext cx="539496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188720"/>
            <a:ext cx="5394960" cy="411480"/>
          </a:xfrm>
          <a:prstGeom prst="rect">
            <a:avLst/>
          </a:prstGeom>
          <a:noFill/>
        </p:spPr>
        <p:txBody>
          <a:bodyPr wrap="square">
            <a:spAutoFit/>
          </a:bodyPr>
          <a:lstStyle/>
          <a:p>
            <a:pPr algn="ctr"/>
            <a:r>
              <a:rPr sz="1100" b="1" i="0">
                <a:solidFill>
                  <a:srgbClr val="0D1117"/>
                </a:solidFill>
                <a:latin typeface="Calibri"/>
              </a:rPr>
              <a:t>Compétences techniques acquises</a:t>
            </a:r>
          </a:p>
        </p:txBody>
      </p:sp>
      <p:sp>
        <p:nvSpPr>
          <p:cNvPr id="10" name="Rectangle 9"/>
          <p:cNvSpPr/>
          <p:nvPr/>
        </p:nvSpPr>
        <p:spPr>
          <a:xfrm>
            <a:off x="685800" y="1618488"/>
            <a:ext cx="5394960" cy="2286000"/>
          </a:xfrm>
          <a:prstGeom prst="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55648"/>
            <a:ext cx="5120640" cy="502920"/>
          </a:xfrm>
          <a:prstGeom prst="rect">
            <a:avLst/>
          </a:prstGeom>
          <a:noFill/>
        </p:spPr>
        <p:txBody>
          <a:bodyPr wrap="square">
            <a:spAutoFit/>
          </a:bodyPr>
          <a:lstStyle/>
          <a:p>
            <a:pPr algn="l"/>
            <a:r>
              <a:rPr sz="1000" b="0" i="0">
                <a:solidFill>
                  <a:srgbClr val="FFFFFF"/>
                </a:solidFill>
                <a:latin typeface="Calibri"/>
              </a:rPr>
              <a:t>▸  Connexion Flask ↔ MariaDB via SQLAlchemy ORM</a:t>
            </a:r>
          </a:p>
        </p:txBody>
      </p:sp>
      <p:sp>
        <p:nvSpPr>
          <p:cNvPr id="12" name="TextBox 11"/>
          <p:cNvSpPr txBox="1"/>
          <p:nvPr/>
        </p:nvSpPr>
        <p:spPr>
          <a:xfrm>
            <a:off x="822960" y="2304288"/>
            <a:ext cx="5120640" cy="502920"/>
          </a:xfrm>
          <a:prstGeom prst="rect">
            <a:avLst/>
          </a:prstGeom>
          <a:noFill/>
        </p:spPr>
        <p:txBody>
          <a:bodyPr wrap="square">
            <a:spAutoFit/>
          </a:bodyPr>
          <a:lstStyle/>
          <a:p>
            <a:pPr algn="l"/>
            <a:r>
              <a:rPr sz="1000" b="0" i="0">
                <a:solidFill>
                  <a:srgbClr val="FFFFFF"/>
                </a:solidFill>
                <a:latin typeface="Calibri"/>
              </a:rPr>
              <a:t>▸  Calcul de KPIs industriels (TRS NF E60-182, MTBF, FPY) depuis SQL brut</a:t>
            </a:r>
          </a:p>
        </p:txBody>
      </p:sp>
      <p:sp>
        <p:nvSpPr>
          <p:cNvPr id="13" name="TextBox 12"/>
          <p:cNvSpPr txBox="1"/>
          <p:nvPr/>
        </p:nvSpPr>
        <p:spPr>
          <a:xfrm>
            <a:off x="822960" y="2852928"/>
            <a:ext cx="5120640" cy="502920"/>
          </a:xfrm>
          <a:prstGeom prst="rect">
            <a:avLst/>
          </a:prstGeom>
          <a:noFill/>
        </p:spPr>
        <p:txBody>
          <a:bodyPr wrap="square">
            <a:spAutoFit/>
          </a:bodyPr>
          <a:lstStyle/>
          <a:p>
            <a:pPr algn="l"/>
            <a:r>
              <a:rPr sz="1000" b="0" i="0">
                <a:solidFill>
                  <a:srgbClr val="FFFFFF"/>
                </a:solidFill>
                <a:latin typeface="Calibri"/>
              </a:rPr>
              <a:t>▸  Intégration de données hétérogènes : SQL + CSV capteurs</a:t>
            </a:r>
          </a:p>
        </p:txBody>
      </p:sp>
      <p:sp>
        <p:nvSpPr>
          <p:cNvPr id="14" name="TextBox 13"/>
          <p:cNvSpPr txBox="1"/>
          <p:nvPr/>
        </p:nvSpPr>
        <p:spPr>
          <a:xfrm>
            <a:off x="822960" y="3401568"/>
            <a:ext cx="5120640" cy="502920"/>
          </a:xfrm>
          <a:prstGeom prst="rect">
            <a:avLst/>
          </a:prstGeom>
          <a:noFill/>
        </p:spPr>
        <p:txBody>
          <a:bodyPr wrap="square">
            <a:spAutoFit/>
          </a:bodyPr>
          <a:lstStyle/>
          <a:p>
            <a:pPr algn="l"/>
            <a:r>
              <a:rPr sz="1000" b="0" i="0">
                <a:solidFill>
                  <a:srgbClr val="FFFFFF"/>
                </a:solidFill>
                <a:latin typeface="Calibri"/>
              </a:rPr>
              <a:t>▸  Sécurité web : hachage MDP (werkzeug), utilisateur BDD SELECT-only</a:t>
            </a:r>
          </a:p>
        </p:txBody>
      </p:sp>
      <p:sp>
        <p:nvSpPr>
          <p:cNvPr id="15" name="Rectangle 14"/>
          <p:cNvSpPr/>
          <p:nvPr/>
        </p:nvSpPr>
        <p:spPr>
          <a:xfrm>
            <a:off x="6400800" y="1188720"/>
            <a:ext cx="5394960" cy="411480"/>
          </a:xfrm>
          <a:prstGeom prst="rect">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188720"/>
            <a:ext cx="5394960" cy="411480"/>
          </a:xfrm>
          <a:prstGeom prst="rect">
            <a:avLst/>
          </a:prstGeom>
          <a:noFill/>
        </p:spPr>
        <p:txBody>
          <a:bodyPr wrap="square">
            <a:spAutoFit/>
          </a:bodyPr>
          <a:lstStyle/>
          <a:p>
            <a:pPr algn="ctr"/>
            <a:r>
              <a:rPr sz="1100" b="1" i="0">
                <a:solidFill>
                  <a:srgbClr val="0D1117"/>
                </a:solidFill>
                <a:latin typeface="Calibri"/>
              </a:rPr>
              <a:t>Méthodes et processus</a:t>
            </a:r>
          </a:p>
        </p:txBody>
      </p:sp>
      <p:sp>
        <p:nvSpPr>
          <p:cNvPr id="17" name="Rectangle 16"/>
          <p:cNvSpPr/>
          <p:nvPr/>
        </p:nvSpPr>
        <p:spPr>
          <a:xfrm>
            <a:off x="6400800" y="1618488"/>
            <a:ext cx="5394960" cy="2286000"/>
          </a:xfrm>
          <a:prstGeom prst="rect">
            <a:avLst/>
          </a:prstGeom>
          <a:solidFill>
            <a:srgbClr val="1A2035"/>
          </a:solidFill>
          <a:ln w="12700">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755648"/>
            <a:ext cx="5120640" cy="502920"/>
          </a:xfrm>
          <a:prstGeom prst="rect">
            <a:avLst/>
          </a:prstGeom>
          <a:noFill/>
        </p:spPr>
        <p:txBody>
          <a:bodyPr wrap="square">
            <a:spAutoFit/>
          </a:bodyPr>
          <a:lstStyle/>
          <a:p>
            <a:pPr algn="l"/>
            <a:r>
              <a:rPr sz="1000" b="0" i="0">
                <a:solidFill>
                  <a:srgbClr val="FFFFFF"/>
                </a:solidFill>
                <a:latin typeface="Calibri"/>
              </a:rPr>
              <a:t>▸  Importance des tests sur données réelles (KPI 1 &amp; 3 corrigés en conditions réelles)</a:t>
            </a:r>
          </a:p>
        </p:txBody>
      </p:sp>
      <p:sp>
        <p:nvSpPr>
          <p:cNvPr id="19" name="TextBox 18"/>
          <p:cNvSpPr txBox="1"/>
          <p:nvPr/>
        </p:nvSpPr>
        <p:spPr>
          <a:xfrm>
            <a:off x="6537960" y="2304288"/>
            <a:ext cx="5120640" cy="502920"/>
          </a:xfrm>
          <a:prstGeom prst="rect">
            <a:avLst/>
          </a:prstGeom>
          <a:noFill/>
        </p:spPr>
        <p:txBody>
          <a:bodyPr wrap="square">
            <a:spAutoFit/>
          </a:bodyPr>
          <a:lstStyle/>
          <a:p>
            <a:pPr algn="l"/>
            <a:r>
              <a:rPr sz="1000" b="0" i="0">
                <a:solidFill>
                  <a:srgbClr val="FFFFFF"/>
                </a:solidFill>
                <a:latin typeface="Calibri"/>
              </a:rPr>
              <a:t>▸  Import SQL propre : tblpartsreport exclu (données binaires HeidiSQL incompatibles)</a:t>
            </a:r>
          </a:p>
        </p:txBody>
      </p:sp>
      <p:sp>
        <p:nvSpPr>
          <p:cNvPr id="20" name="TextBox 19"/>
          <p:cNvSpPr txBox="1"/>
          <p:nvPr/>
        </p:nvSpPr>
        <p:spPr>
          <a:xfrm>
            <a:off x="6537960" y="2852928"/>
            <a:ext cx="5120640" cy="502920"/>
          </a:xfrm>
          <a:prstGeom prst="rect">
            <a:avLst/>
          </a:prstGeom>
          <a:noFill/>
        </p:spPr>
        <p:txBody>
          <a:bodyPr wrap="square">
            <a:spAutoFit/>
          </a:bodyPr>
          <a:lstStyle/>
          <a:p>
            <a:pPr algn="l"/>
            <a:r>
              <a:rPr sz="1000" b="0" i="0">
                <a:solidFill>
                  <a:srgbClr val="FFFFFF"/>
                </a:solidFill>
                <a:latin typeface="Calibri"/>
              </a:rPr>
              <a:t>▸  Documentation technique et note de synthèse comme livrables à part entière</a:t>
            </a:r>
          </a:p>
        </p:txBody>
      </p:sp>
      <p:sp>
        <p:nvSpPr>
          <p:cNvPr id="21" name="TextBox 20"/>
          <p:cNvSpPr txBox="1"/>
          <p:nvPr/>
        </p:nvSpPr>
        <p:spPr>
          <a:xfrm>
            <a:off x="685800" y="4114800"/>
            <a:ext cx="10515600" cy="411480"/>
          </a:xfrm>
          <a:prstGeom prst="rect">
            <a:avLst/>
          </a:prstGeom>
          <a:noFill/>
        </p:spPr>
        <p:txBody>
          <a:bodyPr wrap="square">
            <a:spAutoFit/>
          </a:bodyPr>
          <a:lstStyle/>
          <a:p>
            <a:pPr algn="l"/>
            <a:r>
              <a:rPr sz="1400" b="1" i="0">
                <a:solidFill>
                  <a:srgbClr val="F59E0B"/>
                </a:solidFill>
                <a:latin typeface="Calibri"/>
              </a:rPr>
              <a:t>Ce que nous aurions fait différemment</a:t>
            </a:r>
          </a:p>
        </p:txBody>
      </p:sp>
      <p:sp>
        <p:nvSpPr>
          <p:cNvPr id="22" name="Rectangle 21"/>
          <p:cNvSpPr/>
          <p:nvPr/>
        </p:nvSpPr>
        <p:spPr>
          <a:xfrm>
            <a:off x="685800" y="4572000"/>
            <a:ext cx="10515600" cy="1965960"/>
          </a:xfrm>
          <a:prstGeom prst="rect">
            <a:avLst/>
          </a:prstGeom>
          <a:solidFill>
            <a:srgbClr val="1A20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709160"/>
            <a:ext cx="320040" cy="502920"/>
          </a:xfrm>
          <a:prstGeom prst="rect">
            <a:avLst/>
          </a:prstGeom>
          <a:noFill/>
        </p:spPr>
        <p:txBody>
          <a:bodyPr wrap="square">
            <a:spAutoFit/>
          </a:bodyPr>
          <a:lstStyle/>
          <a:p>
            <a:pPr algn="l"/>
            <a:r>
              <a:rPr sz="1100" b="1" i="0">
                <a:solidFill>
                  <a:srgbClr val="F59E0B"/>
                </a:solidFill>
                <a:latin typeface="Calibri"/>
              </a:rPr>
              <a:t>1.</a:t>
            </a:r>
          </a:p>
        </p:txBody>
      </p:sp>
      <p:sp>
        <p:nvSpPr>
          <p:cNvPr id="24" name="TextBox 23"/>
          <p:cNvSpPr txBox="1"/>
          <p:nvPr/>
        </p:nvSpPr>
        <p:spPr>
          <a:xfrm>
            <a:off x="1234440" y="4709160"/>
            <a:ext cx="9784080" cy="502920"/>
          </a:xfrm>
          <a:prstGeom prst="rect">
            <a:avLst/>
          </a:prstGeom>
          <a:noFill/>
        </p:spPr>
        <p:txBody>
          <a:bodyPr wrap="square">
            <a:spAutoFit/>
          </a:bodyPr>
          <a:lstStyle/>
          <a:p>
            <a:pPr algn="l"/>
            <a:r>
              <a:rPr sz="1000" b="0" i="0">
                <a:solidFill>
                  <a:srgbClr val="FFFFFF"/>
                </a:solidFill>
                <a:latin typeface="Calibri"/>
              </a:rPr>
              <a:t>Commencer par un cahier des charges strict des colonnes SQL utilisées → éviter les bugs de colonnes vides (ElectricEnergyReal).</a:t>
            </a:r>
          </a:p>
        </p:txBody>
      </p:sp>
      <p:sp>
        <p:nvSpPr>
          <p:cNvPr id="25" name="TextBox 24"/>
          <p:cNvSpPr txBox="1"/>
          <p:nvPr/>
        </p:nvSpPr>
        <p:spPr>
          <a:xfrm>
            <a:off x="868680" y="5303520"/>
            <a:ext cx="320040" cy="502920"/>
          </a:xfrm>
          <a:prstGeom prst="rect">
            <a:avLst/>
          </a:prstGeom>
          <a:noFill/>
        </p:spPr>
        <p:txBody>
          <a:bodyPr wrap="square">
            <a:spAutoFit/>
          </a:bodyPr>
          <a:lstStyle/>
          <a:p>
            <a:pPr algn="l"/>
            <a:r>
              <a:rPr sz="1100" b="1" i="0">
                <a:solidFill>
                  <a:srgbClr val="E85A14"/>
                </a:solidFill>
                <a:latin typeface="Calibri"/>
              </a:rPr>
              <a:t>2.</a:t>
            </a:r>
          </a:p>
        </p:txBody>
      </p:sp>
      <p:sp>
        <p:nvSpPr>
          <p:cNvPr id="26" name="TextBox 25"/>
          <p:cNvSpPr txBox="1"/>
          <p:nvPr/>
        </p:nvSpPr>
        <p:spPr>
          <a:xfrm>
            <a:off x="1234440" y="5303520"/>
            <a:ext cx="9784080" cy="502920"/>
          </a:xfrm>
          <a:prstGeom prst="rect">
            <a:avLst/>
          </a:prstGeom>
          <a:noFill/>
        </p:spPr>
        <p:txBody>
          <a:bodyPr wrap="square">
            <a:spAutoFit/>
          </a:bodyPr>
          <a:lstStyle/>
          <a:p>
            <a:pPr algn="l"/>
            <a:r>
              <a:rPr sz="1000" b="0" i="0">
                <a:solidFill>
                  <a:srgbClr val="FFFFFF"/>
                </a:solidFill>
                <a:latin typeface="Calibri"/>
              </a:rPr>
              <a:t>Mettre en place un venv dès le début et fixer les versions dans requirements.txt → éviter l'incompatibilité pandas 3.0 / SQLAlchemy 2.0.34.</a:t>
            </a:r>
          </a:p>
        </p:txBody>
      </p:sp>
      <p:sp>
        <p:nvSpPr>
          <p:cNvPr id="27" name="TextBox 26"/>
          <p:cNvSpPr txBox="1"/>
          <p:nvPr/>
        </p:nvSpPr>
        <p:spPr>
          <a:xfrm>
            <a:off x="868680" y="5897880"/>
            <a:ext cx="320040" cy="502920"/>
          </a:xfrm>
          <a:prstGeom prst="rect">
            <a:avLst/>
          </a:prstGeom>
          <a:noFill/>
        </p:spPr>
        <p:txBody>
          <a:bodyPr wrap="square">
            <a:spAutoFit/>
          </a:bodyPr>
          <a:lstStyle/>
          <a:p>
            <a:pPr algn="l"/>
            <a:r>
              <a:rPr sz="1100" b="1" i="0">
                <a:solidFill>
                  <a:srgbClr val="3B82F6"/>
                </a:solidFill>
                <a:latin typeface="Calibri"/>
              </a:rPr>
              <a:t>3.</a:t>
            </a:r>
          </a:p>
        </p:txBody>
      </p:sp>
      <p:sp>
        <p:nvSpPr>
          <p:cNvPr id="28" name="TextBox 27"/>
          <p:cNvSpPr txBox="1"/>
          <p:nvPr/>
        </p:nvSpPr>
        <p:spPr>
          <a:xfrm>
            <a:off x="1234440" y="5897880"/>
            <a:ext cx="9784080" cy="502920"/>
          </a:xfrm>
          <a:prstGeom prst="rect">
            <a:avLst/>
          </a:prstGeom>
          <a:noFill/>
        </p:spPr>
        <p:txBody>
          <a:bodyPr wrap="square">
            <a:spAutoFit/>
          </a:bodyPr>
          <a:lstStyle/>
          <a:p>
            <a:pPr algn="l"/>
            <a:r>
              <a:rPr sz="1000" b="0" i="0">
                <a:solidFill>
                  <a:srgbClr val="FFFFFF"/>
                </a:solidFill>
                <a:latin typeface="Calibri"/>
              </a:rPr>
              <a:t>Travailler sur une fenêtre temporelle récente plutôt que sur 3 ans de données → MTBF et TRS plus représentatifs du fonctionnement actuel.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85A14"/>
          </a:solidFill>
          <a:ln>
            <a:solidFill>
              <a:srgbClr val="E85A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956048" y="1042416"/>
            <a:ext cx="3346704" cy="6126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telefan.png"/>
          <p:cNvPicPr>
            <a:picLocks noChangeAspect="1"/>
          </p:cNvPicPr>
          <p:nvPr/>
        </p:nvPicPr>
        <p:blipFill>
          <a:blip r:embed="rId2"/>
          <a:stretch>
            <a:fillRect/>
          </a:stretch>
        </p:blipFill>
        <p:spPr>
          <a:xfrm>
            <a:off x="5029200" y="1097280"/>
            <a:ext cx="3200400" cy="1329128"/>
          </a:xfrm>
          <a:prstGeom prst="rect">
            <a:avLst/>
          </a:prstGeom>
        </p:spPr>
      </p:pic>
      <p:sp>
        <p:nvSpPr>
          <p:cNvPr id="6" name="TextBox 5"/>
          <p:cNvSpPr txBox="1"/>
          <p:nvPr/>
        </p:nvSpPr>
        <p:spPr>
          <a:xfrm>
            <a:off x="914400" y="2743200"/>
            <a:ext cx="10058400" cy="822960"/>
          </a:xfrm>
          <a:prstGeom prst="rect">
            <a:avLst/>
          </a:prstGeom>
          <a:noFill/>
        </p:spPr>
        <p:txBody>
          <a:bodyPr wrap="square">
            <a:spAutoFit/>
          </a:bodyPr>
          <a:lstStyle/>
          <a:p>
            <a:pPr algn="ctr"/>
            <a:r>
              <a:rPr sz="3400" b="1" i="0">
                <a:solidFill>
                  <a:srgbClr val="FFFFFF"/>
                </a:solidFill>
                <a:latin typeface="Calibri"/>
              </a:rPr>
              <a:t>Merci de votre attention</a:t>
            </a:r>
          </a:p>
        </p:txBody>
      </p:sp>
      <p:sp>
        <p:nvSpPr>
          <p:cNvPr id="7" name="TextBox 6"/>
          <p:cNvSpPr txBox="1"/>
          <p:nvPr/>
        </p:nvSpPr>
        <p:spPr>
          <a:xfrm>
            <a:off x="914400" y="3611880"/>
            <a:ext cx="10058400" cy="594360"/>
          </a:xfrm>
          <a:prstGeom prst="rect">
            <a:avLst/>
          </a:prstGeom>
          <a:noFill/>
        </p:spPr>
        <p:txBody>
          <a:bodyPr wrap="square">
            <a:spAutoFit/>
          </a:bodyPr>
          <a:lstStyle/>
          <a:p>
            <a:pPr algn="ctr"/>
            <a:r>
              <a:rPr sz="2600" b="0" i="0">
                <a:solidFill>
                  <a:srgbClr val="E85A14"/>
                </a:solidFill>
                <a:latin typeface="Calibri"/>
              </a:rPr>
              <a:t>Questions ?</a:t>
            </a:r>
          </a:p>
        </p:txBody>
      </p:sp>
      <p:sp>
        <p:nvSpPr>
          <p:cNvPr id="8" name="Rectangle 7"/>
          <p:cNvSpPr/>
          <p:nvPr/>
        </p:nvSpPr>
        <p:spPr>
          <a:xfrm>
            <a:off x="2743200" y="4343400"/>
            <a:ext cx="6400800" cy="25400"/>
          </a:xfrm>
          <a:prstGeom prst="rect">
            <a:avLst/>
          </a:prstGeom>
          <a:solidFill>
            <a:srgbClr val="E85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26280"/>
            <a:ext cx="10058400" cy="411480"/>
          </a:xfrm>
          <a:prstGeom prst="rect">
            <a:avLst/>
          </a:prstGeom>
          <a:noFill/>
        </p:spPr>
        <p:txBody>
          <a:bodyPr wrap="square">
            <a:spAutoFit/>
          </a:bodyPr>
          <a:lstStyle/>
          <a:p>
            <a:pPr algn="ctr"/>
            <a:r>
              <a:rPr sz="1400" b="1" i="0">
                <a:solidFill>
                  <a:srgbClr val="FFFFFF"/>
                </a:solidFill>
                <a:latin typeface="Calibri"/>
              </a:rPr>
              <a:t>Arnaud Cordier  ·  Corentin Seu  ·  Alem Nadji</a:t>
            </a:r>
          </a:p>
        </p:txBody>
      </p:sp>
      <p:sp>
        <p:nvSpPr>
          <p:cNvPr id="10" name="TextBox 9"/>
          <p:cNvSpPr txBox="1"/>
          <p:nvPr/>
        </p:nvSpPr>
        <p:spPr>
          <a:xfrm>
            <a:off x="914400" y="4983480"/>
            <a:ext cx="10058400" cy="365760"/>
          </a:xfrm>
          <a:prstGeom prst="rect">
            <a:avLst/>
          </a:prstGeom>
          <a:noFill/>
        </p:spPr>
        <p:txBody>
          <a:bodyPr wrap="square">
            <a:spAutoFit/>
          </a:bodyPr>
          <a:lstStyle/>
          <a:p>
            <a:pPr algn="ctr"/>
            <a:r>
              <a:rPr sz="1200" b="0" i="0">
                <a:solidFill>
                  <a:srgbClr val="6B7280"/>
                </a:solidFill>
                <a:latin typeface="Calibri"/>
              </a:rPr>
              <a:t>Groupe n°7  ·  BUT Science des Données – IUT  ·  02 avril 2026</a:t>
            </a:r>
          </a:p>
        </p:txBody>
      </p:sp>
      <p:sp>
        <p:nvSpPr>
          <p:cNvPr id="11" name="TextBox 10"/>
          <p:cNvSpPr txBox="1"/>
          <p:nvPr/>
        </p:nvSpPr>
        <p:spPr>
          <a:xfrm>
            <a:off x="914400" y="5577840"/>
            <a:ext cx="10058400" cy="365760"/>
          </a:xfrm>
          <a:prstGeom prst="rect">
            <a:avLst/>
          </a:prstGeom>
          <a:noFill/>
        </p:spPr>
        <p:txBody>
          <a:bodyPr wrap="square">
            <a:spAutoFit/>
          </a:bodyPr>
          <a:lstStyle/>
          <a:p>
            <a:pPr algn="ctr"/>
            <a:r>
              <a:rPr sz="1100" b="0" i="1">
                <a:solidFill>
                  <a:srgbClr val="3B82F6"/>
                </a:solidFill>
                <a:latin typeface="Calibri"/>
              </a:rPr>
              <a:t>Repo : github.com/Cordierarn/projet-QLIO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